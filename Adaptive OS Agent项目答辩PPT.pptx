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  <p:sldMasterId id="2147483869" r:id="rId19"/>
  </p:sld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18.xml"/><Relationship Id="rId36" Type="http://schemas.openxmlformats.org/officeDocument/2006/relationships/slide" Target="slides/slide17.xml"/><Relationship Id="rId35" Type="http://schemas.openxmlformats.org/officeDocument/2006/relationships/slide" Target="slides/slide16.xml"/><Relationship Id="rId34" Type="http://schemas.openxmlformats.org/officeDocument/2006/relationships/slide" Target="slides/slide15.xml"/><Relationship Id="rId33" Type="http://schemas.openxmlformats.org/officeDocument/2006/relationships/slide" Target="slides/slide14.xml"/><Relationship Id="rId32" Type="http://schemas.openxmlformats.org/officeDocument/2006/relationships/slide" Target="slides/slide13.xml"/><Relationship Id="rId31" Type="http://schemas.openxmlformats.org/officeDocument/2006/relationships/slide" Target="slides/slide12.xml"/><Relationship Id="rId30" Type="http://schemas.openxmlformats.org/officeDocument/2006/relationships/slide" Target="slides/slide1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0.xml"/><Relationship Id="rId28" Type="http://schemas.openxmlformats.org/officeDocument/2006/relationships/slide" Target="slides/slide9.xml"/><Relationship Id="rId27" Type="http://schemas.openxmlformats.org/officeDocument/2006/relationships/slide" Target="slides/slide8.xml"/><Relationship Id="rId26" Type="http://schemas.openxmlformats.org/officeDocument/2006/relationships/slide" Target="slides/slide7.xml"/><Relationship Id="rId25" Type="http://schemas.openxmlformats.org/officeDocument/2006/relationships/slide" Target="slides/slide6.xml"/><Relationship Id="rId24" Type="http://schemas.openxmlformats.org/officeDocument/2006/relationships/slide" Target="slides/slide5.xml"/><Relationship Id="rId23" Type="http://schemas.openxmlformats.org/officeDocument/2006/relationships/slide" Target="slides/slide4.xml"/><Relationship Id="rId22" Type="http://schemas.openxmlformats.org/officeDocument/2006/relationships/slide" Target="slides/slide3.xml"/><Relationship Id="rId21" Type="http://schemas.openxmlformats.org/officeDocument/2006/relationships/slide" Target="slides/slide2.xml"/><Relationship Id="rId20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0FD79D-7A2F-4283-B255-24AA3AEB5DD0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484660-95ED-4614-BB07-873F49A093CF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7ED9FD-B167-495B-892D-B998D99E599D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D79141-C00F-4041-AA6A-CF1C73D76CC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9CE36D-2CBD-430C-9B97-1ED1F2C4B691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F99C6A-1CCD-4E0D-BA80-238292A5D21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E51A1A-DD44-4CDB-8342-CACB04E08146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97503-4914-4437-9A41-EAA37CD98A9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322092-04EA-49F8-9D36-954F1D3DB85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1BFF6B-D3E7-47F9-95C8-E0FEABBFE6B7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290BA9-DB89-4B26-932F-99F0DFE07C11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0F411F-FAFB-43FF-A6FC-9BFC71A695C1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FC7E52-0CDC-41BF-83D0-BBD9DB9E4AC1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04710A-4C71-4BF4-AAE6-C26BCA0E7C9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3A323F-60BD-47CD-B535-F038C6DAC56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1F105E-0878-430D-88F3-C9D37842CE76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87305C-ABA4-489E-8942-BDE66A64A05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F211B9-E69F-449A-A0D2-1E70E3C6928C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7DBB50-592E-4533-9B83-EAAEF3F5F97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A85DEF-60D6-4792-B152-8D4289EE370A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3946C9-B879-4587-B639-0A2DA5653CF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8A06E0-67F9-4DBF-B918-87BE3C4DABE3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373824-70B8-45F7-877F-BF2177709D86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A84D97-7435-48A4-AABE-25F71E55A91E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537926B-37A0-4539-B01F-1EDFC7EB9A2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F6ACC6F-775C-4D08-B786-49F1F66A0B1F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BDA7F17-919B-4D62-B695-23DD88985CD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A178ECD-A845-433F-8BAA-66204A70828B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D877D05-EC8D-4645-BFEE-E23AC0827FF3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4590434-1CED-42CA-9349-2163FDEC74C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4E95F96-3C56-4D44-BF33-BA6EF9589B59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6B7EE56-77F9-4509-ADD6-66B225C937F6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7E10611-51CE-42D8-AC9B-384FB8846B3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D5BFDDE-5323-44E8-8A34-8238A6B261E8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FB9D8A2-69FB-497E-8087-56B41B5F8B7B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2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3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1AB5F98-ADE6-4C98-B58F-4995DB143A4B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6C21E29-903E-4421-8377-B8EA583979AE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5C6C900-3ED5-4498-99EA-30BB59873F88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D418EF3-D38C-47A1-ABD8-23269F76428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C575257-F6D6-46A1-829F-7FDF1E2F39D7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66D6B53-AB74-4846-975F-8E87E0801DCB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D6E8081-4922-47A2-B3FB-2131D011A79B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4AD40BC-6028-4439-8F4B-A4AEE4FE62CD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C50688E-ECF2-4EF2-A4E3-D573C992D9A8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778C3F6-4BBD-4E77-9A35-2468F4B62CDD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A92490-AF6B-4E46-ABD4-C5FF65FFD91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15A854F-C9EC-4548-8481-C9ABD8BFBC92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C66FCF5-8834-49C6-BFA7-2E14141AFECE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FC77E6F-C425-407D-B8C3-8B5ECA31F889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A7FFABC-1313-4AE8-BB7D-F9F4BA3982F0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6D9A0D1-8B6A-433E-B13F-B0E5519F2811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B11A415-D3E5-49F0-A448-35D760505BF6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A8460E8-077E-4ABA-8C57-D529E96BBB29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5FF0F52-5216-4E33-BEF3-110043160B70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036DBC9-3FF9-4587-892F-807808CE803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1489EC0-24A5-4193-A7AF-BFFCB11CE7B2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9D3CFB7-9397-4CE2-9D69-C087FE7B3B9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E5B90FA-B2FC-4E52-9330-CD260776AFDE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4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FC75D1B-018E-47C0-AC78-35AD4F8A0DB5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9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0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1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44729CC-6F56-4071-84E0-093A0EB6BC3A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09F2E74-4D8D-404B-88A8-1CECEB502881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A158C37-77B4-4A00-9749-E5DFFAD389C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2C2299F-5651-4DC0-AAF1-37B5E0B96A23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254738C-9486-4101-B3C0-C0FB4BD39789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9ADD9E9-9A87-4678-A762-B7CCEDC96367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F6F88F3-B4DB-4A27-AB6A-FB505F5AE86A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140F415-DB87-431E-8672-0AEFEE8E5833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E214053-934B-4961-899A-4589F7AF02A9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D420D1-D986-40E8-9ACF-D6C6BE59565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B9DA701-00C6-4DC1-B6FD-DD12E4BCF31D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836EBAA-C422-4F21-ACE0-018BAFD1BAB7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FC59A07-38A8-4815-9227-4B38D4E47253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8985185-EFD2-4E76-8215-27298F4968E0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83B3457-3A64-4D15-8376-0C44DE873A2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FA75424-EEE1-44D3-812B-2070E681AF6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2C8436D-EC2C-4B40-9D54-87087B224184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A7FBEBA-0EF2-4AF5-8727-2DC05336FCD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833833C-64CB-43FB-ADF1-5F0C6C2534A6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EF5B61F-AD8E-4503-9333-4885E3F7B7E2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35613E2-C286-4AE4-AAF0-BDD547F4CF0D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84A032A-9E12-4AD0-BD3E-C46B2F5A90A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CEEB023-FA72-4302-8EAD-937D7F6E14B2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C998AF4-29F4-435E-92E8-C2A3D967801F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4F16745-DBEC-4FA9-A6A6-1CFDB54B3E9C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9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9083D73-DAAB-44A2-856F-3FA7513B1DF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C7AF90F-9F6C-48C8-B2B9-CF8BBF992F21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1B363BE-66FA-4AF0-B528-1B22748A2256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4B1817EC-2EDD-42CD-8844-7B01FB65E53D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41EB01A-E4D3-4A05-91A4-E6E4A718BFC5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47CCB76-69AA-44D7-BD20-A6045E4E7507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2C24C00-9507-4086-A556-B940FA2D548F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DBE2E55-0BD8-41E8-B280-7B11D0997807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316379C-6D81-4599-B45E-A2149069535B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365A9EE-78CB-4095-86F4-0DEE6BC5FA13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5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6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0FE00EF-6417-4292-AD97-DD6681680C5A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1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2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3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3877346-0B1E-4DC7-83C7-BABFF9C39296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2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1B4329B-DDDC-4584-8FBE-988FF3590474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3603CB3-9E54-45E2-B322-DA575B9853F6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5EBA83D-C5F5-4C0A-B38D-6E4E5540FCE0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3F0FAAF-70C5-4902-8725-6037140DC259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B287D65-77D9-41CE-9269-790DC8ABEC19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82FD361-C179-4422-B5FE-1E4CC194962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0846289-5B88-4CAE-8E87-3478AE014DD0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591F18B-FD2F-4DD5-81D1-77FEC5DBC5B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2EB0D143-0863-4325-B213-7425C6EFD26A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5A0C155-C2F9-48D7-8C76-0952E90AAEF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9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0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D34AEFB-3B48-41F6-B1C1-894A36837178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5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6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7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452CEEB-5430-462C-A2B7-976310F976AD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5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0C055D7-BC44-480F-A42A-724F0FF7285A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A013759-A80A-469D-8184-73BC9AF8343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A3B9CA4-4167-4E01-B83D-5F25D1C1273A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215B7FF-5F1E-47B5-8558-BF0BDB01ADC1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19364AD-58A0-427C-9112-34D95458063E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BFC4160-05E2-4540-8A41-4CC9CE4FB94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3FCF634-33D1-4D77-9E48-CE19480976FA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3456DC5-C004-4927-A762-B88DAC790BF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04B37C0-4316-4548-B4DD-2A22387B709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C9D4E7E-4126-4C57-96E4-20A64BBA2DA2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4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90A993F-57FD-4944-9CEE-4D276EDBFFD0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9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0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1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65FBA8D-C96F-491B-80A8-7491B1978733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28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9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3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7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4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5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9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0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1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2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C5A522C6-D00B-489B-ADD7-C6C5881B30DB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2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4D08DD8-A09C-4E46-A406-B27DEE171D7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A3DC682-D742-4C86-939F-5F175E529CB5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62B8505-773F-4D1C-A533-AD0E20B29BB4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5826465-1494-4F20-88CA-7C958C6F519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4509548-2F65-4D7E-B2CC-C08FB415878D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3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5B13EE1-D9E7-4427-A208-1A11F3C77F7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2929FD4-8A8B-47AF-A14E-3964BD77C90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1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17F6728-533D-4228-BD40-B8D25ED69EAA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B6E1A95-6082-414B-93CE-C2B351ED7A28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19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6892CAA-4CBE-408C-9A3D-1E61F0A5F88A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4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5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26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0E92998-4EB3-4048-8D7F-114BB04D9B78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6903D81-8DA8-4408-B8DB-C5C613423091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42A4DB27-2949-4933-AB38-E979EB68CBF9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49785EA-E0E2-4FBE-A3A0-04B6EF78ADC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D277C0A-E25F-4DC3-8FEF-9A1CF95CE761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2AA1FBB-A93D-4359-8A90-07E8B3E73F0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6D86AE14-24C1-47D7-AC21-F1799DB35B3B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D85BA6E-0E4A-47C9-A26B-5E96C5701C9A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1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27C70D31-860B-4962-9F8A-545C4799D262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5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05CDC4C-2677-4C12-8F6F-C1F48106A19F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E884103B-39E3-47FA-832C-B9C3FF0D30E0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2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3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DB39AA8-8C75-4068-8C15-A4A0E67EC8B8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6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7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8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69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0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32ACA8A7-C499-4FC1-B930-DD27ED949A2E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4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8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6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3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4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09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0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1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3D81BDD2-E86D-4270-B03D-C9ADA56526C8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5B59543E-A19D-4E69-A48E-359E42DBB7F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2BE8A53-FD9A-4332-B7E5-1F7567D9458C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6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970CE4CC-9E57-43A5-919D-4AC3B34A57DA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84023457-08E7-4827-90FD-46F38D92D57C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8B91CA11-D35A-4EE4-A770-7D488BA69B15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2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4B4B6FEE-28E6-4F85-9BBC-D70B9467A3E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6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DF613FF6-F62E-498F-843D-088A64FCFBD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0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ACD6E7B-2B4B-4CA5-810B-11422B762A8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C834E24A-C79A-4297-86BE-45AE7EC5408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7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8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550981B5-1A31-46D7-9B99-5DB15B724AE5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2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3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4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5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3305601E-9311-4D4E-81FA-53BA9D7BA50F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7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95BF9E95-8C04-46AD-8668-1F73D2A4BB63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CB3A2078-8CB0-4234-A70A-06362AB5A92B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64F2FEA8-51EE-4EAA-A37C-E200D32AEAA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7E2D6C0B-1DF1-425B-86A4-74DDD0FB0AB5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E3DF690E-9ACF-4C54-8F5B-0DF079350BF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EAD5C599-454B-4708-A161-EA8E9F30831A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6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4E297FCB-65EE-429A-A618-ADD426D07A16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7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0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CD4D5976-DDF4-4E4A-BD18-5DB9B78CCC3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4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D219DCB9-8A8A-4F56-9D91-0DAEB363BCC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7B96E212-B417-4D09-B6FE-07FD63F86A5B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9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1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2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FFF88B9B-F62E-4C52-AC2C-1E07AB58FBED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4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6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7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8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9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0504279B-F5D1-4A9A-80FC-43995855CAA4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0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D39B95F0-399B-474A-AF90-F36265E81750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9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86BE5E54-3BCF-4EDB-9940-739CFA2172A6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DBB0995A-1F0D-4C55-A2B9-55A4C5175F76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847627F9-D660-4200-8CEC-E78571E7F611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BD44C1EB-C3E2-40F9-800E-064D785AF1A4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E7A6FAC5-F98A-4945-8591-C736D02B2C91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0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588FB578-2F57-44ED-B54B-0E02EBF1B33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4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5D25F75E-D6EB-4E8B-9DC3-8AB6D3B6F183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8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636733A8-CD95-48EB-AB8A-1F37BF71195D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97E9F4DA-2085-4B45-9955-EBDA7FDC91AB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5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6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5364F404-E91F-4C35-98C0-8985F5673ED8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9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0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1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2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3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3A9E8F32-A3BA-45BE-8778-CAA5E9429233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4B449918-E98D-4D22-9783-D3FFC8F401DF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 type="subTitle"/>
          </p:nvPr>
        </p:nvSpPr>
        <p:spPr>
          <a:xfrm>
            <a:off x="5099040" y="4557960"/>
            <a:ext cx="386604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736EFC4B-DE72-4C62-B3CE-985ECAEA4142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6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1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442655D3-5A18-4223-970C-758D973391C6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31F2A862-94F4-4DB9-95E3-FDB5AFB58C14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AD455A3B-968D-4BF2-A65A-5282658E695C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subTitle"/>
          </p:nvPr>
        </p:nvSpPr>
        <p:spPr>
          <a:xfrm>
            <a:off x="1157760" y="1861920"/>
            <a:ext cx="9876600" cy="815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715BB4E4-CF19-455B-9DA6-6C323DD827B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5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9D560049-1544-4BA0-96B9-2EF5BDAB61A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28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0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9" name="PlaceHolder 4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AB694224-FAAF-4E23-899D-9E6E4E9EC3E9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3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74955CE1-EC15-465B-A87E-E1EAA209341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5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/>
          </p:nvPr>
        </p:nvSpPr>
        <p:spPr>
          <a:xfrm>
            <a:off x="5099040" y="4792320"/>
            <a:ext cx="386604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F93412FD-F51E-4DB6-9618-EF2F45B167E9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8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/>
          </p:nvPr>
        </p:nvSpPr>
        <p:spPr>
          <a:xfrm>
            <a:off x="7080120" y="46411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0" name="PlaceHolder 4"/>
          <p:cNvSpPr>
            <a:spLocks noGrp="1"/>
          </p:cNvSpPr>
          <p:nvPr>
            <p:ph/>
          </p:nvPr>
        </p:nvSpPr>
        <p:spPr>
          <a:xfrm>
            <a:off x="509904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1" name="PlaceHolder 5"/>
          <p:cNvSpPr>
            <a:spLocks noGrp="1"/>
          </p:cNvSpPr>
          <p:nvPr>
            <p:ph/>
          </p:nvPr>
        </p:nvSpPr>
        <p:spPr>
          <a:xfrm>
            <a:off x="7080120" y="4792320"/>
            <a:ext cx="188640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8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C489A78E-326B-4382-8EA2-209BF012868A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3" name="PlaceHolder 2"/>
          <p:cNvSpPr>
            <a:spLocks noGrp="1"/>
          </p:cNvSpPr>
          <p:nvPr>
            <p:ph/>
          </p:nvPr>
        </p:nvSpPr>
        <p:spPr>
          <a:xfrm>
            <a:off x="509904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/>
          </p:nvPr>
        </p:nvSpPr>
        <p:spPr>
          <a:xfrm>
            <a:off x="640620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5" name="PlaceHolder 4"/>
          <p:cNvSpPr>
            <a:spLocks noGrp="1"/>
          </p:cNvSpPr>
          <p:nvPr>
            <p:ph/>
          </p:nvPr>
        </p:nvSpPr>
        <p:spPr>
          <a:xfrm>
            <a:off x="7713360" y="46411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6" name="PlaceHolder 5"/>
          <p:cNvSpPr>
            <a:spLocks noGrp="1"/>
          </p:cNvSpPr>
          <p:nvPr>
            <p:ph/>
          </p:nvPr>
        </p:nvSpPr>
        <p:spPr>
          <a:xfrm>
            <a:off x="509904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7" name="PlaceHolder 6"/>
          <p:cNvSpPr>
            <a:spLocks noGrp="1"/>
          </p:cNvSpPr>
          <p:nvPr>
            <p:ph/>
          </p:nvPr>
        </p:nvSpPr>
        <p:spPr>
          <a:xfrm>
            <a:off x="640620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8" name="PlaceHolder 7"/>
          <p:cNvSpPr>
            <a:spLocks noGrp="1"/>
          </p:cNvSpPr>
          <p:nvPr>
            <p:ph/>
          </p:nvPr>
        </p:nvSpPr>
        <p:spPr>
          <a:xfrm>
            <a:off x="7713360" y="4792320"/>
            <a:ext cx="1244520" cy="13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37000"/>
          </a:bodyPr>
          <a:p>
            <a:pPr>
              <a:lnSpc>
                <a:spcPct val="90000"/>
              </a:lnSpc>
              <a:spcBef>
                <a:spcPts val="1415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92F6A2F2-1BFF-4DC3-B510-C78A5E995C64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6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4" Type="http://schemas.openxmlformats.org/officeDocument/2006/relationships/theme" Target="../theme/theme3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4" Type="http://schemas.openxmlformats.org/officeDocument/2006/relationships/theme" Target="../theme/theme4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4" Type="http://schemas.openxmlformats.org/officeDocument/2006/relationships/theme" Target="../theme/theme5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7.xml"/><Relationship Id="rId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Relationship Id="rId3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2.xml"/><Relationship Id="rId14" Type="http://schemas.openxmlformats.org/officeDocument/2006/relationships/theme" Target="../theme/theme6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1.xml"/><Relationship Id="rId8" Type="http://schemas.openxmlformats.org/officeDocument/2006/relationships/slideLayout" Target="../slideLayouts/slideLayout80.xml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4" Type="http://schemas.openxmlformats.org/officeDocument/2006/relationships/theme" Target="../theme/theme7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2.xml"/><Relationship Id="rId1" Type="http://schemas.openxmlformats.org/officeDocument/2006/relationships/slideLayout" Target="../slideLayouts/slideLayout73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3.xml"/><Relationship Id="rId8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4" Type="http://schemas.openxmlformats.org/officeDocument/2006/relationships/theme" Target="../theme/theme8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94.xml"/><Relationship Id="rId1" Type="http://schemas.openxmlformats.org/officeDocument/2006/relationships/slideLayout" Target="../slideLayouts/slideLayout8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Relationship Id="rId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98.xml"/><Relationship Id="rId14" Type="http://schemas.openxmlformats.org/officeDocument/2006/relationships/theme" Target="../theme/theme9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112.xml"/><Relationship Id="rId3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10.xml"/><Relationship Id="rId14" Type="http://schemas.openxmlformats.org/officeDocument/2006/relationships/theme" Target="../theme/theme10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09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2.xml"/><Relationship Id="rId14" Type="http://schemas.openxmlformats.org/officeDocument/2006/relationships/theme" Target="../theme/theme1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4" Type="http://schemas.openxmlformats.org/officeDocument/2006/relationships/theme" Target="../theme/theme12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44.xml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6.xml"/><Relationship Id="rId14" Type="http://schemas.openxmlformats.org/officeDocument/2006/relationships/theme" Target="../theme/theme13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56.xml"/><Relationship Id="rId11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45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5.xml"/><Relationship Id="rId8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58.xml"/><Relationship Id="rId14" Type="http://schemas.openxmlformats.org/officeDocument/2006/relationships/theme" Target="../theme/theme14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68.xml"/><Relationship Id="rId11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57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0.xml"/><Relationship Id="rId14" Type="http://schemas.openxmlformats.org/officeDocument/2006/relationships/theme" Target="../theme/theme15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78.xml"/><Relationship Id="rId1" Type="http://schemas.openxmlformats.org/officeDocument/2006/relationships/slideLayout" Target="../slideLayouts/slideLayout169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9.xml"/><Relationship Id="rId8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87.xml"/><Relationship Id="rId6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82.xml"/><Relationship Id="rId14" Type="http://schemas.openxmlformats.org/officeDocument/2006/relationships/theme" Target="../theme/theme16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92.xml"/><Relationship Id="rId11" Type="http://schemas.openxmlformats.org/officeDocument/2006/relationships/slideLayout" Target="../slideLayouts/slideLayout191.xml"/><Relationship Id="rId10" Type="http://schemas.openxmlformats.org/officeDocument/2006/relationships/slideLayout" Target="../slideLayouts/slideLayout190.xml"/><Relationship Id="rId1" Type="http://schemas.openxmlformats.org/officeDocument/2006/relationships/slideLayout" Target="../slideLayouts/slideLayout181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1.xml"/><Relationship Id="rId8" Type="http://schemas.openxmlformats.org/officeDocument/2006/relationships/slideLayout" Target="../slideLayouts/slideLayout200.xml"/><Relationship Id="rId7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6.xml"/><Relationship Id="rId3" Type="http://schemas.openxmlformats.org/officeDocument/2006/relationships/slideLayout" Target="../slideLayouts/slideLayout195.xml"/><Relationship Id="rId2" Type="http://schemas.openxmlformats.org/officeDocument/2006/relationships/slideLayout" Target="../slideLayouts/slideLayout194.xml"/><Relationship Id="rId14" Type="http://schemas.openxmlformats.org/officeDocument/2006/relationships/theme" Target="../theme/theme17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202.xml"/><Relationship Id="rId1" Type="http://schemas.openxmlformats.org/officeDocument/2006/relationships/slideLayout" Target="../slideLayouts/slideLayout19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3.xml"/><Relationship Id="rId8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1.xml"/><Relationship Id="rId6" Type="http://schemas.openxmlformats.org/officeDocument/2006/relationships/slideLayout" Target="../slideLayouts/slideLayout210.xml"/><Relationship Id="rId5" Type="http://schemas.openxmlformats.org/officeDocument/2006/relationships/slideLayout" Target="../slideLayouts/slideLayout209.xml"/><Relationship Id="rId4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206.xml"/><Relationship Id="rId14" Type="http://schemas.openxmlformats.org/officeDocument/2006/relationships/theme" Target="../theme/theme18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16.xml"/><Relationship Id="rId11" Type="http://schemas.openxmlformats.org/officeDocument/2006/relationships/slideLayout" Target="../slideLayouts/slideLayout215.xml"/><Relationship Id="rId10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20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图片 11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/>
          <p:nvPr/>
        </p:nvPicPr>
        <p:blipFill>
          <a:blip r:embed="rId13"/>
          <a:srcRect l="4" r="4"/>
          <a:stretch>
            <a:fillRect/>
          </a:stretch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zh-CN" sz="6000" b="1" strike="noStrike" spc="-1">
                <a:solidFill>
                  <a:srgbClr val="FFFFFF"/>
                </a:solidFill>
                <a:latin typeface="Arial" panose="020B0604020202020204"/>
              </a:rPr>
              <a:t>单击此处编辑作品名称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 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 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99040" y="4641120"/>
            <a:ext cx="3993120" cy="289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600" b="0" strike="noStrike" spc="-1">
                <a:solidFill>
                  <a:srgbClr val="FFFFFF"/>
                </a:solidFill>
                <a:latin typeface="Arial" panose="020B0604020202020204"/>
              </a:rPr>
              <a:t>编辑队伍名称</a:t>
            </a:r>
            <a:r>
              <a:rPr lang="en-US" sz="1600" b="0" strike="noStrike" spc="-1">
                <a:solidFill>
                  <a:srgbClr val="FFFFFF"/>
                </a:solidFill>
                <a:latin typeface="Arial" panose="020B0604020202020204"/>
              </a:rPr>
              <a:t> 禁止出现学校和成员信息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body"/>
          </p:nvPr>
        </p:nvSpPr>
        <p:spPr>
          <a:xfrm>
            <a:off x="5099040" y="5077440"/>
            <a:ext cx="3992400" cy="289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600" b="0" strike="noStrike" spc="-1">
                <a:solidFill>
                  <a:srgbClr val="FFFFFF"/>
                </a:solidFill>
                <a:latin typeface="Arial" panose="020B0604020202020204"/>
              </a:rPr>
              <a:t>编辑完成日期</a:t>
            </a:r>
            <a:r>
              <a:rPr lang="en-US" sz="1600" b="0" strike="noStrike" spc="-1">
                <a:solidFill>
                  <a:srgbClr val="FFFFFF"/>
                </a:solidFill>
                <a:latin typeface="Arial" panose="020B0604020202020204"/>
              </a:rPr>
              <a:t> 禁止出现学校和成员信息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body"/>
          </p:nvPr>
        </p:nvSpPr>
        <p:spPr>
          <a:xfrm>
            <a:off x="3937320" y="4640760"/>
            <a:ext cx="1161360" cy="290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600" b="0" strike="noStrike" spc="-1">
                <a:solidFill>
                  <a:srgbClr val="FFFFFF"/>
                </a:solidFill>
                <a:latin typeface="Arial" panose="020B0604020202020204"/>
              </a:rPr>
              <a:t>参赛团队：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body"/>
          </p:nvPr>
        </p:nvSpPr>
        <p:spPr>
          <a:xfrm>
            <a:off x="3937320" y="5077440"/>
            <a:ext cx="1161360" cy="290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600" b="0" strike="noStrike" spc="-1">
                <a:solidFill>
                  <a:srgbClr val="FFFFFF"/>
                </a:solidFill>
                <a:latin typeface="Arial" panose="020B0604020202020204"/>
              </a:rPr>
              <a:t>完成日期：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grpSp>
        <p:nvGrpSpPr>
          <p:cNvPr id="48" name="组合 104"/>
          <p:cNvGrpSpPr/>
          <p:nvPr/>
        </p:nvGrpSpPr>
        <p:grpSpPr>
          <a:xfrm>
            <a:off x="364320" y="2361960"/>
            <a:ext cx="4978440" cy="1728720"/>
            <a:chOff x="364320" y="2361960"/>
            <a:chExt cx="4978440" cy="1728720"/>
          </a:xfrm>
        </p:grpSpPr>
        <p:sp>
          <p:nvSpPr>
            <p:cNvPr id="49" name="标题 1"/>
            <p:cNvSpPr/>
            <p:nvPr/>
          </p:nvSpPr>
          <p:spPr>
            <a:xfrm>
              <a:off x="1190880" y="3383640"/>
              <a:ext cx="3325680" cy="70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90000"/>
                </a:lnSpc>
                <a:buNone/>
              </a:pPr>
              <a:r>
                <a:rPr lang="en-US" sz="4000" b="1" strike="noStrike" spc="-1">
                  <a:solidFill>
                    <a:srgbClr val="D6DCE5">
                      <a:alpha val="30000"/>
                    </a:srgbClr>
                  </a:solidFill>
                  <a:latin typeface="Arial" panose="020B0604020202020204"/>
                </a:rPr>
                <a:t>CONTENTS</a:t>
              </a:r>
              <a:endParaRPr lang="en-US" sz="4000" b="0" strike="noStrike" spc="-1">
                <a:latin typeface="Arial" panose="020B0604020202020204"/>
              </a:endParaRPr>
            </a:p>
          </p:txBody>
        </p:sp>
        <p:sp>
          <p:nvSpPr>
            <p:cNvPr id="50" name="标题 1"/>
            <p:cNvSpPr/>
            <p:nvPr/>
          </p:nvSpPr>
          <p:spPr>
            <a:xfrm>
              <a:off x="364320" y="2361960"/>
              <a:ext cx="4978440" cy="102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anchor="ctr">
              <a:noAutofit/>
            </a:bodyPr>
            <a:p>
              <a:pPr algn="ctr">
                <a:lnSpc>
                  <a:spcPct val="90000"/>
                </a:lnSpc>
                <a:buNone/>
              </a:pPr>
              <a:r>
                <a:rPr lang="zh-CN" sz="6600" b="1" strike="noStrike" spc="-1">
                  <a:solidFill>
                    <a:srgbClr val="080A12"/>
                  </a:solidFill>
                  <a:latin typeface="Arial" panose="020B0604020202020204"/>
                </a:rPr>
                <a:t>目录</a:t>
              </a:r>
              <a:endParaRPr lang="en-US" sz="6600" b="0" strike="noStrike" spc="-1">
                <a:latin typeface="Arial" panose="020B0604020202020204"/>
              </a:endParaRPr>
            </a:p>
          </p:txBody>
        </p:sp>
      </p:grpSp>
      <p:pic>
        <p:nvPicPr>
          <p:cNvPr id="51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/>
          <p:nvPr/>
        </p:nvPicPr>
        <p:blipFill>
          <a:blip r:embed="rId13"/>
          <a:srcRect l="4" r="4"/>
          <a:stretch>
            <a:fillRect/>
          </a:stretch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94" name="标题 1"/>
          <p:cNvSpPr/>
          <p:nvPr/>
        </p:nvSpPr>
        <p:spPr>
          <a:xfrm>
            <a:off x="2316600" y="2594880"/>
            <a:ext cx="2661480" cy="83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anchor="ctr">
            <a:spAutoFit/>
          </a:bodyPr>
          <a:p>
            <a:pPr algn="r"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FFFFFF"/>
                </a:solidFill>
                <a:latin typeface="Arial" panose="020B0604020202020204"/>
              </a:rPr>
              <a:t>Part 01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5192280" y="2453400"/>
            <a:ext cx="4304520" cy="1114920"/>
          </a:xfrm>
          <a:prstGeom prst="rect">
            <a:avLst/>
          </a:prstGeom>
          <a:noFill/>
          <a:ln w="0">
            <a:noFill/>
          </a:ln>
        </p:spPr>
        <p:txBody>
          <a:bodyPr lIns="90000" anchor="ctr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6600" b="1" strike="noStrike" spc="-1">
                <a:solidFill>
                  <a:srgbClr val="FFFFFF"/>
                </a:solidFill>
                <a:latin typeface="Arial" panose="020B0604020202020204"/>
              </a:rPr>
              <a:t>项目介绍</a:t>
            </a:r>
            <a:endParaRPr lang="en-US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body"/>
          </p:nvPr>
        </p:nvSpPr>
        <p:spPr>
          <a:xfrm>
            <a:off x="2330280" y="3770640"/>
            <a:ext cx="7530840" cy="9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r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400" b="0" strike="noStrike" spc="-1">
                <a:solidFill>
                  <a:srgbClr val="FFFFFF"/>
                </a:solidFill>
                <a:latin typeface="Arial" panose="020B0604020202020204"/>
              </a:rPr>
              <a:t>单击编辑文本，文字是您思想的提炼，为了最终演示的良好效果，请尽量言简意赅的阐述观点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8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1.1 </a:t>
            </a:r>
            <a:r>
              <a:rPr lang="zh-CN" sz="2600" b="1" strike="noStrike" spc="-1">
                <a:solidFill>
                  <a:srgbClr val="254FEB"/>
                </a:solidFill>
                <a:latin typeface="Arial" panose="020B0604020202020204"/>
              </a:rPr>
              <a:t>设计背景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0" name="任意多边形 7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141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2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1.2 </a:t>
            </a:r>
            <a:r>
              <a:rPr lang="zh-CN" sz="2600" b="1" strike="noStrike" spc="-1">
                <a:solidFill>
                  <a:srgbClr val="254FEB"/>
                </a:solidFill>
                <a:latin typeface="Arial" panose="020B0604020202020204"/>
              </a:rPr>
              <a:t>设计目标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4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185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225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6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7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1.3 </a:t>
            </a:r>
            <a:r>
              <a:rPr lang="zh-CN" sz="2600" b="1" strike="noStrike" spc="-1">
                <a:solidFill>
                  <a:srgbClr val="254FEB"/>
                </a:solidFill>
                <a:latin typeface="Arial" panose="020B0604020202020204"/>
              </a:rPr>
              <a:t>设计简介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8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229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0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1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1.4 </a:t>
            </a:r>
            <a:r>
              <a:rPr lang="zh-CN" sz="2600" b="1" strike="noStrike" spc="-1">
                <a:solidFill>
                  <a:srgbClr val="254FEB"/>
                </a:solidFill>
                <a:latin typeface="Arial" panose="020B0604020202020204"/>
              </a:rPr>
              <a:t>作品原创性情况说明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2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273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/>
          <p:nvPr/>
        </p:nvPicPr>
        <p:blipFill>
          <a:blip r:embed="rId13"/>
          <a:srcRect l="4" r="4"/>
          <a:stretch>
            <a:fillRect/>
          </a:stretch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311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14" name="标题 1"/>
          <p:cNvSpPr/>
          <p:nvPr/>
        </p:nvSpPr>
        <p:spPr>
          <a:xfrm>
            <a:off x="2316600" y="2594880"/>
            <a:ext cx="2661480" cy="83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anchor="ctr">
            <a:spAutoFit/>
          </a:bodyPr>
          <a:p>
            <a:pPr algn="r"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FFFFFF"/>
                </a:solidFill>
                <a:latin typeface="Arial" panose="020B0604020202020204"/>
              </a:rPr>
              <a:t>Part 02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315" name="PlaceHolder 4"/>
          <p:cNvSpPr>
            <a:spLocks noGrp="1"/>
          </p:cNvSpPr>
          <p:nvPr>
            <p:ph type="body"/>
          </p:nvPr>
        </p:nvSpPr>
        <p:spPr>
          <a:xfrm>
            <a:off x="5192280" y="2453400"/>
            <a:ext cx="4304520" cy="1114920"/>
          </a:xfrm>
          <a:prstGeom prst="rect">
            <a:avLst/>
          </a:prstGeom>
          <a:noFill/>
          <a:ln w="0">
            <a:noFill/>
          </a:ln>
        </p:spPr>
        <p:txBody>
          <a:bodyPr lIns="90000" anchor="ctr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6600" b="1" strike="noStrike" spc="-1">
                <a:solidFill>
                  <a:srgbClr val="FFFFFF"/>
                </a:solidFill>
                <a:latin typeface="Arial" panose="020B0604020202020204"/>
              </a:rPr>
              <a:t>项目亮点</a:t>
            </a:r>
            <a:endParaRPr lang="en-US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6" name="PlaceHolder 5"/>
          <p:cNvSpPr>
            <a:spLocks noGrp="1"/>
          </p:cNvSpPr>
          <p:nvPr>
            <p:ph type="body"/>
          </p:nvPr>
        </p:nvSpPr>
        <p:spPr>
          <a:xfrm>
            <a:off x="2330280" y="3770640"/>
            <a:ext cx="7530840" cy="9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r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400" b="0" strike="noStrike" spc="-1">
                <a:solidFill>
                  <a:srgbClr val="FFFFFF"/>
                </a:solidFill>
                <a:latin typeface="Arial" panose="020B0604020202020204"/>
              </a:rPr>
              <a:t>单击编辑文本，文字是您思想的提炼，为了最终演示的良好效果，请尽量言简意赅的阐述观点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7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8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9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2.1 </a:t>
            </a:r>
            <a:r>
              <a:rPr lang="zh-CN" sz="2600" b="1" strike="noStrike" spc="-1">
                <a:solidFill>
                  <a:srgbClr val="254FEB"/>
                </a:solidFill>
                <a:latin typeface="Arial" panose="020B0604020202020204"/>
              </a:rPr>
              <a:t>功能亮点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0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361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2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03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2.2 XX</a:t>
            </a:r>
            <a:r>
              <a:rPr lang="zh-CN" sz="2600" b="1" strike="noStrike" spc="-1">
                <a:solidFill>
                  <a:srgbClr val="254FEB"/>
                </a:solidFill>
                <a:latin typeface="Arial" panose="020B0604020202020204"/>
              </a:rPr>
              <a:t>亮点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4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405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/>
          <p:nvPr/>
        </p:nvPicPr>
        <p:blipFill>
          <a:blip r:embed="rId13"/>
          <a:srcRect l="4" r="4"/>
          <a:stretch>
            <a:fillRect/>
          </a:stretch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443" name="标题 1"/>
          <p:cNvSpPr/>
          <p:nvPr/>
        </p:nvSpPr>
        <p:spPr>
          <a:xfrm>
            <a:off x="2316600" y="2594880"/>
            <a:ext cx="2661480" cy="83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anchor="ctr">
            <a:spAutoFit/>
          </a:bodyPr>
          <a:p>
            <a:pPr algn="r"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FFFFFF"/>
                </a:solidFill>
                <a:latin typeface="Arial" panose="020B0604020202020204"/>
              </a:rPr>
              <a:t>Part 03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body"/>
          </p:nvPr>
        </p:nvSpPr>
        <p:spPr>
          <a:xfrm>
            <a:off x="5192280" y="2453400"/>
            <a:ext cx="4304520" cy="1114920"/>
          </a:xfrm>
          <a:prstGeom prst="rect">
            <a:avLst/>
          </a:prstGeom>
          <a:noFill/>
          <a:ln w="0">
            <a:noFill/>
          </a:ln>
        </p:spPr>
        <p:txBody>
          <a:bodyPr lIns="90000" anchor="ctr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6600" b="1" strike="noStrike" spc="-1">
                <a:solidFill>
                  <a:srgbClr val="FFFFFF"/>
                </a:solidFill>
                <a:latin typeface="Arial" panose="020B0604020202020204"/>
              </a:rPr>
              <a:t>技术难点</a:t>
            </a:r>
            <a:endParaRPr lang="en-US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2330280" y="3770640"/>
            <a:ext cx="7530840" cy="9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r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400" b="0" strike="noStrike" spc="-1">
                <a:solidFill>
                  <a:srgbClr val="FFFFFF"/>
                </a:solidFill>
                <a:latin typeface="Arial" panose="020B0604020202020204"/>
              </a:rPr>
              <a:t>单击编辑文本，文字是您思想的提炼，为了最终演示的良好效果，请尽量言简意赅的阐述观点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/>
    <p:bodyStyle/>
    <p:otherStyle/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486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7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8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3.1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9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490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/>
    <p:bodyStyle/>
    <p:otherStyle/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530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1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2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3.2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3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534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/>
    <p:bodyStyle/>
    <p:otherStyle/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/>
          <p:nvPr/>
        </p:nvPicPr>
        <p:blipFill>
          <a:blip r:embed="rId13"/>
          <a:srcRect l="4" r="4"/>
          <a:stretch>
            <a:fillRect/>
          </a:stretch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572" name="标题 1"/>
          <p:cNvSpPr/>
          <p:nvPr/>
        </p:nvSpPr>
        <p:spPr>
          <a:xfrm>
            <a:off x="2316600" y="2594880"/>
            <a:ext cx="2661480" cy="83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anchor="ctr">
            <a:spAutoFit/>
          </a:bodyPr>
          <a:p>
            <a:pPr algn="r"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FFFFFF"/>
                </a:solidFill>
                <a:latin typeface="Arial" panose="020B0604020202020204"/>
              </a:rPr>
              <a:t>Part 04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573" name="PlaceHolder 1"/>
          <p:cNvSpPr>
            <a:spLocks noGrp="1"/>
          </p:cNvSpPr>
          <p:nvPr>
            <p:ph type="body"/>
          </p:nvPr>
        </p:nvSpPr>
        <p:spPr>
          <a:xfrm>
            <a:off x="5192280" y="2453400"/>
            <a:ext cx="4304520" cy="1114920"/>
          </a:xfrm>
          <a:prstGeom prst="rect">
            <a:avLst/>
          </a:prstGeom>
          <a:noFill/>
          <a:ln w="0">
            <a:noFill/>
          </a:ln>
        </p:spPr>
        <p:txBody>
          <a:bodyPr lIns="90000" anchor="ctr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6600" b="1" strike="noStrike" spc="-1">
                <a:solidFill>
                  <a:srgbClr val="FFFFFF"/>
                </a:solidFill>
                <a:latin typeface="Arial" panose="020B0604020202020204"/>
              </a:rPr>
              <a:t>实现与验证</a:t>
            </a:r>
            <a:endParaRPr lang="en-US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 type="body"/>
          </p:nvPr>
        </p:nvSpPr>
        <p:spPr>
          <a:xfrm>
            <a:off x="2330280" y="3770640"/>
            <a:ext cx="7530840" cy="9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r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400" b="0" strike="noStrike" spc="-1">
                <a:solidFill>
                  <a:srgbClr val="FFFFFF"/>
                </a:solidFill>
                <a:latin typeface="Arial" panose="020B0604020202020204"/>
              </a:rPr>
              <a:t>单击编辑文本，文字是您思想的提炼，为了最终演示的良好效果，请尽量言简意赅的阐述观点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</p:sldLayoutIdLst>
  <p:txStyles>
    <p:titleStyle/>
    <p:bodyStyle/>
    <p:otherStyle/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614" name="PlaceHolder 3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615" name="PlaceHolder 4"/>
          <p:cNvSpPr>
            <a:spLocks noGrp="1"/>
          </p:cNvSpPr>
          <p:nvPr>
            <p:ph type="body"/>
          </p:nvPr>
        </p:nvSpPr>
        <p:spPr>
          <a:xfrm>
            <a:off x="529200" y="1445760"/>
            <a:ext cx="11133360" cy="4621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800" b="0" strike="noStrike" spc="-1">
                <a:solidFill>
                  <a:srgbClr val="090509"/>
                </a:solidFill>
                <a:latin typeface="Arial" panose="020B0604020202020204"/>
              </a:rPr>
              <a:t>单击此处编辑母版文本样式</a:t>
            </a:r>
            <a:endParaRPr lang="en-US" sz="2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400" b="0" strike="noStrike" spc="-1">
                <a:solidFill>
                  <a:srgbClr val="090509"/>
                </a:solidFill>
                <a:latin typeface="Arial" panose="020B0604020202020204"/>
              </a:rPr>
              <a:t>二级</a:t>
            </a:r>
            <a:endParaRPr lang="en-US" sz="2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2000" b="0" strike="noStrike" spc="-1">
                <a:solidFill>
                  <a:srgbClr val="090509"/>
                </a:solidFill>
                <a:latin typeface="Arial" panose="020B0604020202020204"/>
              </a:rPr>
              <a:t>三级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600200" lvl="3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四级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057400" lvl="4" indent="-228600">
              <a:lnSpc>
                <a:spcPct val="90000"/>
              </a:lnSpc>
              <a:spcBef>
                <a:spcPts val="500"/>
              </a:spcBef>
              <a:buClr>
                <a:srgbClr val="090509"/>
              </a:buClr>
              <a:buFont typeface="Arial" panose="020B0604020202020204"/>
              <a:buChar char="•"/>
            </a:pPr>
            <a:r>
              <a:rPr lang="zh-CN" sz="1800" b="0" strike="noStrike" spc="-1">
                <a:solidFill>
                  <a:srgbClr val="090509"/>
                </a:solidFill>
                <a:latin typeface="Arial" panose="020B0604020202020204"/>
              </a:rPr>
              <a:t>五级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6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7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4.1 </a:t>
            </a:r>
            <a:r>
              <a:rPr lang="zh-CN" sz="2600" b="1" strike="noStrike" spc="-1">
                <a:solidFill>
                  <a:srgbClr val="254FEB"/>
                </a:solidFill>
                <a:latin typeface="Arial" panose="020B0604020202020204"/>
              </a:rPr>
              <a:t>项目测试结果说明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8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619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</p:sldLayoutIdLst>
  <p:txStyles>
    <p:titleStyle/>
    <p:bodyStyle/>
    <p:otherStyle/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图片 6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/>
          <p:nvPr/>
        </p:nvPicPr>
        <p:blipFill>
          <a:blip r:embed="rId13"/>
          <a:srcRect l="4" r="4"/>
          <a:stretch>
            <a:fillRect/>
          </a:stretch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657" name="PlaceHolder 1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660" name="标题 1"/>
          <p:cNvSpPr/>
          <p:nvPr/>
        </p:nvSpPr>
        <p:spPr>
          <a:xfrm>
            <a:off x="2316600" y="2594880"/>
            <a:ext cx="2661480" cy="83124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anchor="ctr">
            <a:spAutoFit/>
          </a:bodyPr>
          <a:p>
            <a:pPr algn="r">
              <a:lnSpc>
                <a:spcPct val="90000"/>
              </a:lnSpc>
              <a:buNone/>
            </a:pPr>
            <a:r>
              <a:rPr lang="en-US" sz="5400" b="1" strike="noStrike" spc="-1">
                <a:solidFill>
                  <a:srgbClr val="FFFFFF"/>
                </a:solidFill>
                <a:latin typeface="Arial" panose="020B0604020202020204"/>
              </a:rPr>
              <a:t>Part 05</a:t>
            </a:r>
            <a:endParaRPr lang="en-US" sz="5400" b="0" strike="noStrike" spc="-1">
              <a:latin typeface="Arial" panose="020B0604020202020204"/>
            </a:endParaRPr>
          </a:p>
        </p:txBody>
      </p:sp>
      <p:sp>
        <p:nvSpPr>
          <p:cNvPr id="661" name="PlaceHolder 4"/>
          <p:cNvSpPr>
            <a:spLocks noGrp="1"/>
          </p:cNvSpPr>
          <p:nvPr>
            <p:ph type="body"/>
          </p:nvPr>
        </p:nvSpPr>
        <p:spPr>
          <a:xfrm>
            <a:off x="5192280" y="2453400"/>
            <a:ext cx="4304520" cy="1114920"/>
          </a:xfrm>
          <a:prstGeom prst="rect">
            <a:avLst/>
          </a:prstGeom>
          <a:noFill/>
          <a:ln w="0">
            <a:noFill/>
          </a:ln>
        </p:spPr>
        <p:txBody>
          <a:bodyPr lIns="90000" anchor="ctr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6600" b="1" strike="noStrike" spc="-1">
                <a:solidFill>
                  <a:srgbClr val="FFFFFF"/>
                </a:solidFill>
                <a:latin typeface="Arial" panose="020B0604020202020204"/>
              </a:rPr>
              <a:t>作品演示</a:t>
            </a:r>
            <a:endParaRPr lang="en-US" sz="6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2" name="PlaceHolder 5"/>
          <p:cNvSpPr>
            <a:spLocks noGrp="1"/>
          </p:cNvSpPr>
          <p:nvPr>
            <p:ph type="body"/>
          </p:nvPr>
        </p:nvSpPr>
        <p:spPr>
          <a:xfrm>
            <a:off x="2330280" y="3770640"/>
            <a:ext cx="7530840" cy="97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algn="r">
              <a:lnSpc>
                <a:spcPct val="15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400" b="0" strike="noStrike" spc="-1">
                <a:solidFill>
                  <a:srgbClr val="FFFFFF"/>
                </a:solidFill>
                <a:latin typeface="Arial" panose="020B0604020202020204"/>
              </a:rPr>
              <a:t>单击编辑文本，文字是您思想的提炼，为了最终演示的良好效果，请尽量言简意赅的阐述观点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3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</p:sldLayoutIdLst>
  <p:txStyles>
    <p:titleStyle/>
    <p:bodyStyle/>
    <p:otherStyle/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703" name="PlaceHolder 4"/>
          <p:cNvSpPr>
            <a:spLocks noGrp="1"/>
          </p:cNvSpPr>
          <p:nvPr>
            <p:ph type="body"/>
          </p:nvPr>
        </p:nvSpPr>
        <p:spPr>
          <a:xfrm>
            <a:off x="529200" y="1419840"/>
            <a:ext cx="11133360" cy="464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4" name="任意形状 24"/>
          <p:cNvSpPr/>
          <p:nvPr/>
        </p:nvSpPr>
        <p:spPr>
          <a:xfrm>
            <a:off x="0" y="6533280"/>
            <a:ext cx="12192120" cy="213840"/>
          </a:xfrm>
          <a:custGeom>
            <a:avLst/>
            <a:gdLst/>
            <a:ahLst/>
            <a:cxnLst/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rotWithShape="0">
            <a:gsLst>
              <a:gs pos="0">
                <a:srgbClr val="254FEB"/>
              </a:gs>
              <a:gs pos="100000">
                <a:srgbClr val="642F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5" name="PlaceHolder 5"/>
          <p:cNvSpPr>
            <a:spLocks noGrp="1"/>
          </p:cNvSpPr>
          <p:nvPr>
            <p:ph type="title"/>
          </p:nvPr>
        </p:nvSpPr>
        <p:spPr>
          <a:xfrm>
            <a:off x="528840" y="150120"/>
            <a:ext cx="7624080" cy="1236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None/>
            </a:pPr>
            <a:r>
              <a:rPr lang="en-US" sz="2600" b="1" strike="noStrike" spc="-1">
                <a:solidFill>
                  <a:srgbClr val="254FEB"/>
                </a:solidFill>
                <a:latin typeface="Arial" panose="020B0604020202020204"/>
              </a:rPr>
              <a:t>5.1 </a:t>
            </a:r>
            <a:r>
              <a:rPr lang="zh-CN" sz="2600" b="1" strike="noStrike" spc="-1">
                <a:solidFill>
                  <a:srgbClr val="254FEB"/>
                </a:solidFill>
                <a:latin typeface="Arial" panose="020B0604020202020204"/>
              </a:rPr>
              <a:t>作品演示播放</a:t>
            </a:r>
            <a:endParaRPr lang="en-US" sz="2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6" name="任意多边形 9"/>
          <p:cNvSpPr/>
          <p:nvPr/>
        </p:nvSpPr>
        <p:spPr>
          <a:xfrm>
            <a:off x="589320" y="1023120"/>
            <a:ext cx="793440" cy="77760"/>
          </a:xfrm>
          <a:custGeom>
            <a:avLst/>
            <a:gdLst/>
            <a:ahLst/>
            <a:cxnLst/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rotWithShape="0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pic>
        <p:nvPicPr>
          <p:cNvPr id="707" name="图片 1"/>
          <p:cNvPicPr/>
          <p:nvPr/>
        </p:nvPicPr>
        <p:blipFill>
          <a:blip r:embed="rId13"/>
          <a:stretch>
            <a:fillRect/>
          </a:stretch>
        </p:blipFill>
        <p:spPr>
          <a:xfrm>
            <a:off x="8815680" y="137880"/>
            <a:ext cx="3376080" cy="59724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xStyles>
    <p:titleStyle/>
    <p:bodyStyle/>
    <p:otherStyle/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图片 11" descr="/Users/francesliu/Library/Containers/com.tencent.xinWeChat/Data/Library/Application Support/com.tencent.xinWeChat/2.0b4.0.9/b76063dd929128abacbe771c150456ce/Message/MessageTemp/cb658cc32c427923f1d8a81f02842996/File/主画面转曲.jpg主画面转曲"/>
          <p:cNvPicPr/>
          <p:nvPr/>
        </p:nvPicPr>
        <p:blipFill>
          <a:blip r:embed="rId13"/>
          <a:srcRect l="4" r="4"/>
          <a:stretch>
            <a:fillRect/>
          </a:stretch>
        </p:blipFill>
        <p:spPr>
          <a:xfrm>
            <a:off x="720" y="0"/>
            <a:ext cx="12190320" cy="6857640"/>
          </a:xfrm>
          <a:prstGeom prst="rect">
            <a:avLst/>
          </a:prstGeom>
          <a:ln w="0">
            <a:noFill/>
          </a:ln>
        </p:spPr>
      </p:pic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1157760" y="1861920"/>
            <a:ext cx="9876600" cy="175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zh-CN" sz="6000" b="1" strike="noStrike" spc="-1">
                <a:solidFill>
                  <a:srgbClr val="FFFFFF"/>
                </a:solidFill>
                <a:latin typeface="Arial" panose="020B0604020202020204"/>
              </a:rPr>
              <a:t>单击此处编辑结束语</a:t>
            </a:r>
            <a:endParaRPr lang="en-US" sz="6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&lt;date/time&gt;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 panose="02020603050405020304"/>
              </a:rPr>
              <a:t>&lt;footer&gt;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748" name="PlaceHolder 4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749" name="PlaceHolder 5"/>
          <p:cNvSpPr>
            <a:spLocks noGrp="1"/>
          </p:cNvSpPr>
          <p:nvPr>
            <p:ph type="body"/>
          </p:nvPr>
        </p:nvSpPr>
        <p:spPr>
          <a:xfrm>
            <a:off x="5099040" y="464112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600" b="0" strike="noStrike" spc="-1">
                <a:solidFill>
                  <a:srgbClr val="FFFFFF"/>
                </a:solidFill>
                <a:latin typeface="Arial" panose="020B0604020202020204"/>
              </a:rPr>
              <a:t>编辑队伍名称</a:t>
            </a:r>
            <a:r>
              <a:rPr lang="en-US" sz="1600" b="0" strike="noStrike" spc="-1">
                <a:solidFill>
                  <a:srgbClr val="FFFFFF"/>
                </a:solidFill>
                <a:latin typeface="Arial" panose="020B0604020202020204"/>
              </a:rPr>
              <a:t> 禁止出现学校和成员信息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0" name="PlaceHolder 6"/>
          <p:cNvSpPr>
            <a:spLocks noGrp="1"/>
          </p:cNvSpPr>
          <p:nvPr>
            <p:ph type="body"/>
          </p:nvPr>
        </p:nvSpPr>
        <p:spPr>
          <a:xfrm>
            <a:off x="5099040" y="5077440"/>
            <a:ext cx="3866040" cy="289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600" b="0" strike="noStrike" spc="-1">
                <a:solidFill>
                  <a:srgbClr val="FFFFFF"/>
                </a:solidFill>
                <a:latin typeface="Arial" panose="020B0604020202020204"/>
              </a:rPr>
              <a:t>编辑完成日期</a:t>
            </a:r>
            <a:r>
              <a:rPr lang="en-US" sz="1600" b="0" strike="noStrike" spc="-1">
                <a:solidFill>
                  <a:srgbClr val="FFFFFF"/>
                </a:solidFill>
                <a:latin typeface="Arial" panose="020B0604020202020204"/>
              </a:rPr>
              <a:t> 禁止出现学校和成员信息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1" name="PlaceHolder 7"/>
          <p:cNvSpPr>
            <a:spLocks noGrp="1"/>
          </p:cNvSpPr>
          <p:nvPr>
            <p:ph type="body"/>
          </p:nvPr>
        </p:nvSpPr>
        <p:spPr>
          <a:xfrm>
            <a:off x="3937320" y="4640760"/>
            <a:ext cx="1161360" cy="290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600" b="0" strike="noStrike" spc="-1">
                <a:solidFill>
                  <a:srgbClr val="FFFFFF"/>
                </a:solidFill>
                <a:latin typeface="Arial" panose="020B0604020202020204"/>
              </a:rPr>
              <a:t>参赛团队：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2" name="PlaceHolder 8"/>
          <p:cNvSpPr>
            <a:spLocks noGrp="1"/>
          </p:cNvSpPr>
          <p:nvPr>
            <p:ph type="body"/>
          </p:nvPr>
        </p:nvSpPr>
        <p:spPr>
          <a:xfrm>
            <a:off x="3937320" y="5077440"/>
            <a:ext cx="1161360" cy="2901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zh-CN" sz="1600" b="0" strike="noStrike" spc="-1">
                <a:solidFill>
                  <a:srgbClr val="FFFFFF"/>
                </a:solidFill>
                <a:latin typeface="Arial" panose="020B0604020202020204"/>
              </a:rPr>
              <a:t>完成日期：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13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文本框 789"/>
          <p:cNvSpPr txBox="1"/>
          <p:nvPr/>
        </p:nvSpPr>
        <p:spPr>
          <a:xfrm>
            <a:off x="713160" y="1581840"/>
            <a:ext cx="6537960" cy="6217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31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Adaptive OS Agent</a:t>
            </a:r>
            <a:endParaRPr lang="en-US" sz="31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1" name="文本框 790"/>
          <p:cNvSpPr txBox="1"/>
          <p:nvPr/>
        </p:nvSpPr>
        <p:spPr>
          <a:xfrm>
            <a:off x="731520" y="2267640"/>
            <a:ext cx="7909560" cy="5486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2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面向 </a:t>
            </a:r>
            <a:r>
              <a:rPr lang="en-US" sz="2200" b="1" strike="noStrike" spc="-1">
                <a:solidFill>
                  <a:srgbClr val="FFFFFF"/>
                </a:solidFill>
                <a:latin typeface="+mj-lt"/>
                <a:ea typeface="Noto Sans CJK SC"/>
                <a:cs typeface="+mj-lt"/>
              </a:rPr>
              <a:t>openEuler </a:t>
            </a:r>
            <a:r>
              <a:rPr lang="zh-CN" sz="22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的自适应资源管控 </a:t>
            </a:r>
            <a:r>
              <a:rPr lang="en-US" sz="2200" b="1" strike="noStrike" spc="-1">
                <a:solidFill>
                  <a:srgbClr val="FFFFFF"/>
                </a:solidFill>
                <a:latin typeface="+mj-lt"/>
                <a:ea typeface="Noto Sans CJK SC"/>
                <a:cs typeface="+mj-lt"/>
              </a:rPr>
              <a:t>Agent</a:t>
            </a:r>
            <a:endParaRPr lang="en-US" sz="2200" b="0" strike="noStrike" spc="-1">
              <a:latin typeface="+mj-lt"/>
              <a:cs typeface="+mj-lt"/>
            </a:endParaRPr>
          </a:p>
        </p:txBody>
      </p:sp>
      <p:sp>
        <p:nvSpPr>
          <p:cNvPr id="792" name="文本框 791"/>
          <p:cNvSpPr txBox="1"/>
          <p:nvPr/>
        </p:nvSpPr>
        <p:spPr>
          <a:xfrm>
            <a:off x="749880" y="2980800"/>
            <a:ext cx="7086600" cy="3474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200" b="0" strike="noStrike" spc="-1">
                <a:solidFill>
                  <a:srgbClr val="CFE2FF"/>
                </a:solidFill>
                <a:latin typeface="Noto Sans CJK SC"/>
                <a:ea typeface="Noto Sans CJK SC"/>
              </a:rPr>
              <a:t>工作负载感知 </a:t>
            </a:r>
            <a:r>
              <a:rPr lang="en-US" sz="1200" b="0" strike="noStrike" spc="-1">
                <a:solidFill>
                  <a:srgbClr val="CFE2FF"/>
                </a:solidFill>
                <a:latin typeface="Noto Sans CJK SC"/>
                <a:ea typeface="Noto Sans CJK SC"/>
              </a:rPr>
              <a:t>· </a:t>
            </a:r>
            <a:r>
              <a:rPr lang="en-US" sz="1200" b="0" strike="noStrike" spc="-1">
                <a:solidFill>
                  <a:srgbClr val="CFE2FF"/>
                </a:solidFill>
                <a:latin typeface="+mj-lt"/>
                <a:ea typeface="Noto Sans CJK SC"/>
                <a:cs typeface="+mj-lt"/>
              </a:rPr>
              <a:t>sched_ext</a:t>
            </a:r>
            <a:r>
              <a:rPr lang="en-US" sz="1200" b="0" strike="noStrike" spc="-1">
                <a:solidFill>
                  <a:srgbClr val="CFE2FF"/>
                </a:solidFill>
                <a:latin typeface="Noto Sans CJK SC"/>
                <a:ea typeface="Noto Sans CJK SC"/>
              </a:rPr>
              <a:t> </a:t>
            </a:r>
            <a:r>
              <a:rPr lang="zh-CN" sz="1200" b="0" strike="noStrike" spc="-1">
                <a:solidFill>
                  <a:srgbClr val="CFE2FF"/>
                </a:solidFill>
                <a:latin typeface="Noto Sans CJK SC"/>
                <a:ea typeface="Noto Sans CJK SC"/>
              </a:rPr>
              <a:t>调度闭环 </a:t>
            </a:r>
            <a:r>
              <a:rPr lang="en-US" sz="1200" b="0" strike="noStrike" spc="-1">
                <a:solidFill>
                  <a:srgbClr val="CFE2FF"/>
                </a:solidFill>
                <a:latin typeface="Noto Sans CJK SC"/>
                <a:ea typeface="Noto Sans CJK SC"/>
              </a:rPr>
              <a:t>· </a:t>
            </a:r>
            <a:r>
              <a:rPr lang="zh-CN" sz="1200" b="0" strike="noStrike" spc="-1">
                <a:solidFill>
                  <a:srgbClr val="CFE2FF"/>
                </a:solidFill>
                <a:latin typeface="Noto Sans CJK SC"/>
                <a:ea typeface="Noto Sans CJK SC"/>
              </a:rPr>
              <a:t>可扩展 </a:t>
            </a:r>
            <a:r>
              <a:rPr lang="en-US" sz="1200" b="0" strike="noStrike" spc="-1">
                <a:solidFill>
                  <a:srgbClr val="CFE2FF"/>
                </a:solidFill>
                <a:latin typeface="+mj-lt"/>
                <a:ea typeface="Noto Sans CJK SC"/>
                <a:cs typeface="+mj-lt"/>
              </a:rPr>
              <a:t>Tool / Skill</a:t>
            </a:r>
            <a:r>
              <a:rPr lang="en-US" sz="1200" b="0" strike="noStrike" spc="-1">
                <a:solidFill>
                  <a:srgbClr val="CFE2FF"/>
                </a:solidFill>
                <a:latin typeface="Noto Sans CJK SC"/>
                <a:ea typeface="Noto Sans CJK SC"/>
              </a:rPr>
              <a:t> </a:t>
            </a:r>
            <a:r>
              <a:rPr lang="zh-CN" sz="1200" b="0" strike="noStrike" spc="-1">
                <a:solidFill>
                  <a:srgbClr val="CFE2FF"/>
                </a:solidFill>
                <a:latin typeface="Noto Sans CJK SC"/>
                <a:ea typeface="Noto Sans CJK SC"/>
              </a:rPr>
              <a:t>接口</a:t>
            </a:r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793" name="矩形 792"/>
          <p:cNvSpPr/>
          <p:nvPr/>
        </p:nvSpPr>
        <p:spPr>
          <a:xfrm>
            <a:off x="749880" y="3566160"/>
            <a:ext cx="567000" cy="41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794" name="文本框 793"/>
          <p:cNvSpPr txBox="1"/>
          <p:nvPr/>
        </p:nvSpPr>
        <p:spPr>
          <a:xfrm>
            <a:off x="6748200" y="5212080"/>
            <a:ext cx="310896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000" b="0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参赛团队</a:t>
            </a:r>
            <a:r>
              <a:rPr lang="zh-CN" sz="1000" b="0" u="sng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：</a:t>
            </a:r>
            <a:r>
              <a:rPr lang="en-US" sz="1000" b="0" u="sng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__</a:t>
            </a:r>
            <a:r>
              <a:rPr lang="zh-CN" altLang="en-US" sz="1000" b="0" u="sng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这次没有队名</a:t>
            </a:r>
            <a:r>
              <a:rPr lang="en-US" sz="1000" b="0" u="sng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_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795" name="文本框 794"/>
          <p:cNvSpPr txBox="1"/>
          <p:nvPr/>
        </p:nvSpPr>
        <p:spPr>
          <a:xfrm>
            <a:off x="6748200" y="5596200"/>
            <a:ext cx="310896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000" b="0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完成日期：</a:t>
            </a:r>
            <a:r>
              <a:rPr lang="en-US" sz="1000" b="0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2026 </a:t>
            </a:r>
            <a:r>
              <a:rPr lang="zh-CN" sz="1000" b="0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年 </a:t>
            </a:r>
            <a:r>
              <a:rPr lang="en-US" sz="1000" b="0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7</a:t>
            </a:r>
            <a:r>
              <a:rPr lang="en-US" sz="1000" b="0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 </a:t>
            </a:r>
            <a:r>
              <a:rPr lang="zh-CN" sz="1000" b="0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月</a:t>
            </a:r>
            <a:endParaRPr lang="en-US" sz="10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矩形 795"/>
          <p:cNvSpPr/>
          <p:nvPr/>
        </p:nvSpPr>
        <p:spPr>
          <a:xfrm>
            <a:off x="3719940" y="1052775"/>
            <a:ext cx="23040" cy="4700160"/>
          </a:xfrm>
          <a:prstGeom prst="rect">
            <a:avLst/>
          </a:prstGeom>
          <a:solidFill>
            <a:srgbClr val="D7E0ED"/>
          </a:solidFill>
          <a:ln w="0">
            <a:noFill/>
          </a:ln>
        </p:spPr>
      </p:sp>
      <p:sp>
        <p:nvSpPr>
          <p:cNvPr id="797" name="圆角矩形 796"/>
          <p:cNvSpPr/>
          <p:nvPr>
            <p:custDataLst>
              <p:tags r:id="rId1"/>
            </p:custDataLst>
          </p:nvPr>
        </p:nvSpPr>
        <p:spPr>
          <a:xfrm>
            <a:off x="4041720" y="1078920"/>
            <a:ext cx="475560" cy="47556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01</a:t>
            </a:r>
            <a:endParaRPr lang="en-US" sz="1100" b="0" strike="noStrike" spc="-1">
              <a:latin typeface="Arial" panose="020B0604020202020204"/>
            </a:endParaRPr>
          </a:p>
        </p:txBody>
      </p:sp>
      <p:sp>
        <p:nvSpPr>
          <p:cNvPr id="798" name="文本框 797"/>
          <p:cNvSpPr txBox="1"/>
          <p:nvPr>
            <p:custDataLst>
              <p:tags r:id="rId2"/>
            </p:custDataLst>
          </p:nvPr>
        </p:nvSpPr>
        <p:spPr>
          <a:xfrm>
            <a:off x="4791600" y="1060560"/>
            <a:ext cx="205740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项目介绍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799" name="文本框 798"/>
          <p:cNvSpPr txBox="1"/>
          <p:nvPr>
            <p:custDataLst>
              <p:tags r:id="rId3"/>
            </p:custDataLst>
          </p:nvPr>
        </p:nvSpPr>
        <p:spPr>
          <a:xfrm>
            <a:off x="6876360" y="1088280"/>
            <a:ext cx="36759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赛题理解、设计目标、系统闭环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00" name="直接连接符 799"/>
          <p:cNvSpPr/>
          <p:nvPr>
            <p:custDataLst>
              <p:tags r:id="rId4"/>
            </p:custDataLst>
          </p:nvPr>
        </p:nvSpPr>
        <p:spPr>
          <a:xfrm>
            <a:off x="4791600" y="1600200"/>
            <a:ext cx="6263640" cy="0"/>
          </a:xfrm>
          <a:prstGeom prst="line">
            <a:avLst/>
          </a:prstGeom>
          <a:ln w="72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01" name="圆角矩形 800"/>
          <p:cNvSpPr/>
          <p:nvPr>
            <p:custDataLst>
              <p:tags r:id="rId5"/>
            </p:custDataLst>
          </p:nvPr>
        </p:nvSpPr>
        <p:spPr>
          <a:xfrm>
            <a:off x="4041720" y="2039040"/>
            <a:ext cx="475560" cy="47556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02</a:t>
            </a:r>
            <a:endParaRPr lang="en-US" sz="1100" b="0" strike="noStrike" spc="-1">
              <a:latin typeface="Arial" panose="020B0604020202020204"/>
            </a:endParaRPr>
          </a:p>
        </p:txBody>
      </p:sp>
      <p:sp>
        <p:nvSpPr>
          <p:cNvPr id="802" name="文本框 801"/>
          <p:cNvSpPr txBox="1"/>
          <p:nvPr>
            <p:custDataLst>
              <p:tags r:id="rId6"/>
            </p:custDataLst>
          </p:nvPr>
        </p:nvSpPr>
        <p:spPr>
          <a:xfrm>
            <a:off x="4791600" y="2020680"/>
            <a:ext cx="205740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项目亮点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03" name="文本框 802"/>
          <p:cNvSpPr txBox="1"/>
          <p:nvPr>
            <p:custDataLst>
              <p:tags r:id="rId7"/>
            </p:custDataLst>
          </p:nvPr>
        </p:nvSpPr>
        <p:spPr>
          <a:xfrm>
            <a:off x="6876360" y="2048400"/>
            <a:ext cx="36759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分类决策与内核调度机制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04" name="直接连接符 803"/>
          <p:cNvSpPr/>
          <p:nvPr>
            <p:custDataLst>
              <p:tags r:id="rId8"/>
            </p:custDataLst>
          </p:nvPr>
        </p:nvSpPr>
        <p:spPr>
          <a:xfrm>
            <a:off x="4791600" y="2560320"/>
            <a:ext cx="6263640" cy="0"/>
          </a:xfrm>
          <a:prstGeom prst="line">
            <a:avLst/>
          </a:prstGeom>
          <a:ln w="72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05" name="圆角矩形 804"/>
          <p:cNvSpPr/>
          <p:nvPr>
            <p:custDataLst>
              <p:tags r:id="rId9"/>
            </p:custDataLst>
          </p:nvPr>
        </p:nvSpPr>
        <p:spPr>
          <a:xfrm>
            <a:off x="4041720" y="2999160"/>
            <a:ext cx="475560" cy="475560"/>
          </a:xfrm>
          <a:prstGeom prst="roundRect">
            <a:avLst/>
          </a:prstGeom>
          <a:solidFill>
            <a:srgbClr val="3159D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03</a:t>
            </a:r>
            <a:endParaRPr lang="en-US" sz="1100" b="0" strike="noStrike" spc="-1">
              <a:latin typeface="Arial" panose="020B0604020202020204"/>
            </a:endParaRPr>
          </a:p>
        </p:txBody>
      </p:sp>
      <p:sp>
        <p:nvSpPr>
          <p:cNvPr id="806" name="文本框 805"/>
          <p:cNvSpPr txBox="1"/>
          <p:nvPr>
            <p:custDataLst>
              <p:tags r:id="rId10"/>
            </p:custDataLst>
          </p:nvPr>
        </p:nvSpPr>
        <p:spPr>
          <a:xfrm>
            <a:off x="4791600" y="2980800"/>
            <a:ext cx="205740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技术难点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07" name="文本框 806"/>
          <p:cNvSpPr txBox="1"/>
          <p:nvPr>
            <p:custDataLst>
              <p:tags r:id="rId11"/>
            </p:custDataLst>
          </p:nvPr>
        </p:nvSpPr>
        <p:spPr>
          <a:xfrm>
            <a:off x="6876360" y="3008520"/>
            <a:ext cx="36759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身份一致性、动态拓扑策略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08" name="直接连接符 807"/>
          <p:cNvSpPr/>
          <p:nvPr>
            <p:custDataLst>
              <p:tags r:id="rId12"/>
            </p:custDataLst>
          </p:nvPr>
        </p:nvSpPr>
        <p:spPr>
          <a:xfrm>
            <a:off x="4791600" y="3520440"/>
            <a:ext cx="6263640" cy="0"/>
          </a:xfrm>
          <a:prstGeom prst="line">
            <a:avLst/>
          </a:prstGeom>
          <a:ln w="72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09" name="圆角矩形 808"/>
          <p:cNvSpPr/>
          <p:nvPr>
            <p:custDataLst>
              <p:tags r:id="rId13"/>
            </p:custDataLst>
          </p:nvPr>
        </p:nvSpPr>
        <p:spPr>
          <a:xfrm>
            <a:off x="4041720" y="3959280"/>
            <a:ext cx="475560" cy="475560"/>
          </a:xfrm>
          <a:prstGeom prst="roundRect">
            <a:avLst/>
          </a:prstGeom>
          <a:solidFill>
            <a:srgbClr val="3159D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04</a:t>
            </a:r>
            <a:endParaRPr lang="en-US" sz="1100" b="0" strike="noStrike" spc="-1">
              <a:latin typeface="Arial" panose="020B0604020202020204"/>
            </a:endParaRPr>
          </a:p>
        </p:txBody>
      </p:sp>
      <p:sp>
        <p:nvSpPr>
          <p:cNvPr id="810" name="文本框 809"/>
          <p:cNvSpPr txBox="1"/>
          <p:nvPr>
            <p:custDataLst>
              <p:tags r:id="rId14"/>
            </p:custDataLst>
          </p:nvPr>
        </p:nvSpPr>
        <p:spPr>
          <a:xfrm>
            <a:off x="4791600" y="3940920"/>
            <a:ext cx="205740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实现与验证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11" name="文本框 810"/>
          <p:cNvSpPr txBox="1"/>
          <p:nvPr>
            <p:custDataLst>
              <p:tags r:id="rId15"/>
            </p:custDataLst>
          </p:nvPr>
        </p:nvSpPr>
        <p:spPr>
          <a:xfrm>
            <a:off x="6876360" y="3968640"/>
            <a:ext cx="36759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工程结构、运行与只读观测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12" name="直接连接符 811"/>
          <p:cNvSpPr/>
          <p:nvPr>
            <p:custDataLst>
              <p:tags r:id="rId16"/>
            </p:custDataLst>
          </p:nvPr>
        </p:nvSpPr>
        <p:spPr>
          <a:xfrm>
            <a:off x="4791600" y="4480560"/>
            <a:ext cx="6263640" cy="0"/>
          </a:xfrm>
          <a:prstGeom prst="line">
            <a:avLst/>
          </a:prstGeom>
          <a:ln w="72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13" name="圆角矩形 812"/>
          <p:cNvSpPr/>
          <p:nvPr>
            <p:custDataLst>
              <p:tags r:id="rId17"/>
            </p:custDataLst>
          </p:nvPr>
        </p:nvSpPr>
        <p:spPr>
          <a:xfrm>
            <a:off x="4041720" y="4919400"/>
            <a:ext cx="475560" cy="475560"/>
          </a:xfrm>
          <a:prstGeom prst="roundRect">
            <a:avLst/>
          </a:prstGeom>
          <a:solidFill>
            <a:srgbClr val="3159D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05</a:t>
            </a:r>
            <a:endParaRPr lang="en-US" sz="1100" b="0" strike="noStrike" spc="-1">
              <a:latin typeface="Arial" panose="020B0604020202020204"/>
            </a:endParaRPr>
          </a:p>
        </p:txBody>
      </p:sp>
      <p:sp>
        <p:nvSpPr>
          <p:cNvPr id="814" name="文本框 813"/>
          <p:cNvSpPr txBox="1"/>
          <p:nvPr>
            <p:custDataLst>
              <p:tags r:id="rId18"/>
            </p:custDataLst>
          </p:nvPr>
        </p:nvSpPr>
        <p:spPr>
          <a:xfrm>
            <a:off x="4791600" y="4901040"/>
            <a:ext cx="205740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作品演示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15" name="文本框 814"/>
          <p:cNvSpPr txBox="1"/>
          <p:nvPr>
            <p:custDataLst>
              <p:tags r:id="rId19"/>
            </p:custDataLst>
          </p:nvPr>
        </p:nvSpPr>
        <p:spPr>
          <a:xfrm>
            <a:off x="6876360" y="4928760"/>
            <a:ext cx="36759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现场流程与可观察证据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16" name="直接连接符 815"/>
          <p:cNvSpPr/>
          <p:nvPr>
            <p:custDataLst>
              <p:tags r:id="rId20"/>
            </p:custDataLst>
          </p:nvPr>
        </p:nvSpPr>
        <p:spPr>
          <a:xfrm>
            <a:off x="4791600" y="5440680"/>
            <a:ext cx="6263640" cy="0"/>
          </a:xfrm>
          <a:prstGeom prst="line">
            <a:avLst/>
          </a:prstGeom>
          <a:ln w="72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文本框 816"/>
          <p:cNvSpPr txBox="1"/>
          <p:nvPr/>
        </p:nvSpPr>
        <p:spPr>
          <a:xfrm>
            <a:off x="4956120" y="2331720"/>
            <a:ext cx="3858840" cy="6217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32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项目介绍</a:t>
            </a: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818" name="矩形 817"/>
          <p:cNvSpPr/>
          <p:nvPr/>
        </p:nvSpPr>
        <p:spPr>
          <a:xfrm>
            <a:off x="4974480" y="3054240"/>
            <a:ext cx="567000" cy="41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819" name="文本框 818"/>
          <p:cNvSpPr txBox="1"/>
          <p:nvPr/>
        </p:nvSpPr>
        <p:spPr>
          <a:xfrm>
            <a:off x="4956120" y="3246120"/>
            <a:ext cx="4883040" cy="3841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DDEBFF"/>
                </a:solidFill>
                <a:latin typeface="Noto Sans CJK SC"/>
                <a:ea typeface="Noto Sans CJK SC"/>
              </a:rPr>
              <a:t>把工作负载语义转成内核可执行策略</a:t>
            </a:r>
            <a:endParaRPr lang="en-US" sz="14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文本框 819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1.1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821" name="文本框 820"/>
          <p:cNvSpPr txBox="1"/>
          <p:nvPr/>
        </p:nvSpPr>
        <p:spPr>
          <a:xfrm>
            <a:off x="1078920" y="311040"/>
            <a:ext cx="749808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赛题理解：关键不是分类，而是形成闭环</a:t>
            </a:r>
            <a:endParaRPr lang="en-US" sz="2100" b="0" strike="noStrike" spc="-1">
              <a:latin typeface="Arial" panose="020B0604020202020204"/>
            </a:endParaRPr>
          </a:p>
        </p:txBody>
      </p:sp>
      <p:sp>
        <p:nvSpPr>
          <p:cNvPr id="822" name="矩形 821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823" name="矩形 822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824" name="圆角矩形 823"/>
          <p:cNvSpPr/>
          <p:nvPr/>
        </p:nvSpPr>
        <p:spPr>
          <a:xfrm>
            <a:off x="621720" y="1115640"/>
            <a:ext cx="960120" cy="27432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85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赛题要求</a:t>
            </a:r>
            <a:endParaRPr lang="en-US" sz="850" b="0" strike="noStrike" spc="-1">
              <a:latin typeface="Arial" panose="020B0604020202020204"/>
            </a:endParaRPr>
          </a:p>
        </p:txBody>
      </p:sp>
      <p:sp>
        <p:nvSpPr>
          <p:cNvPr id="825" name="圆角矩形 824"/>
          <p:cNvSpPr/>
          <p:nvPr/>
        </p:nvSpPr>
        <p:spPr>
          <a:xfrm>
            <a:off x="621720" y="1572840"/>
            <a:ext cx="694800" cy="53028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感知</a:t>
            </a:r>
            <a:endParaRPr lang="en-US" sz="1600" b="0" strike="noStrike" spc="-1">
              <a:latin typeface="Arial" panose="020B0604020202020204"/>
            </a:endParaRPr>
          </a:p>
        </p:txBody>
      </p:sp>
      <p:sp>
        <p:nvSpPr>
          <p:cNvPr id="826" name="圆角矩形 825"/>
          <p:cNvSpPr/>
          <p:nvPr/>
        </p:nvSpPr>
        <p:spPr>
          <a:xfrm>
            <a:off x="1426320" y="1572840"/>
            <a:ext cx="3246120" cy="53028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lIns="146160" rIns="146160" anchor="ctr" anchorCtr="1">
            <a:noAutofit/>
          </a:bodyPr>
          <a:p>
            <a:r>
              <a:rPr lang="zh-CN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识别 </a:t>
            </a:r>
            <a:r>
              <a:rPr lang="zh-CN" sz="1400" b="0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workload</a:t>
            </a:r>
            <a:r>
              <a:rPr lang="zh-CN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，并把意图落到 </a:t>
            </a:r>
            <a:r>
              <a:rPr lang="en-US" sz="1400" b="0" strike="noStrike" spc="-1">
                <a:solidFill>
                  <a:srgbClr val="17233D"/>
                </a:solidFill>
                <a:latin typeface="+mj-lt"/>
                <a:ea typeface="Noto Sans CJK SC"/>
                <a:cs typeface="+mj-lt"/>
              </a:rPr>
              <a:t>CPU</a:t>
            </a:r>
            <a:r>
              <a:rPr lang="en-US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 </a:t>
            </a:r>
            <a:r>
              <a:rPr lang="zh-CN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调度策略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27" name="圆角矩形 826"/>
          <p:cNvSpPr/>
          <p:nvPr/>
        </p:nvSpPr>
        <p:spPr>
          <a:xfrm>
            <a:off x="621720" y="2322720"/>
            <a:ext cx="694800" cy="530280"/>
          </a:xfrm>
          <a:prstGeom prst="roundRect">
            <a:avLst/>
          </a:prstGeom>
          <a:solidFill>
            <a:srgbClr val="159A8C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执行</a:t>
            </a:r>
            <a:endParaRPr lang="zh-CN" sz="1600" b="1" strike="noStrike" spc="-1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828" name="圆角矩形 827"/>
          <p:cNvSpPr/>
          <p:nvPr/>
        </p:nvSpPr>
        <p:spPr>
          <a:xfrm>
            <a:off x="1426320" y="2322720"/>
            <a:ext cx="3246120" cy="530280"/>
          </a:xfrm>
          <a:prstGeom prst="roundRect">
            <a:avLst/>
          </a:prstGeom>
          <a:solidFill>
            <a:srgbClr val="E9F8FA"/>
          </a:solidFill>
          <a:ln w="0">
            <a:noFill/>
          </a:ln>
        </p:spPr>
        <p:txBody>
          <a:bodyPr lIns="146160" rIns="146160" anchor="ctr" anchorCtr="1">
            <a:noAutofit/>
          </a:bodyPr>
          <a:p>
            <a:r>
              <a:rPr lang="zh-CN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基于 </a:t>
            </a:r>
            <a:r>
              <a:rPr lang="en-US" sz="1400" b="0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sched_ext / scx</a:t>
            </a:r>
            <a:r>
              <a:rPr lang="zh-CN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，让策略真正进入内核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29" name="圆角矩形 828"/>
          <p:cNvSpPr/>
          <p:nvPr/>
        </p:nvSpPr>
        <p:spPr>
          <a:xfrm>
            <a:off x="621720" y="3072240"/>
            <a:ext cx="694800" cy="530280"/>
          </a:xfrm>
          <a:prstGeom prst="roundRect">
            <a:avLst/>
          </a:prstGeom>
          <a:solidFill>
            <a:srgbClr val="6239E7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扩展</a:t>
            </a:r>
            <a:endParaRPr lang="zh-CN" sz="1600" b="1" strike="noStrike" spc="-1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830" name="圆角矩形 829"/>
          <p:cNvSpPr/>
          <p:nvPr/>
        </p:nvSpPr>
        <p:spPr>
          <a:xfrm>
            <a:off x="1426320" y="3072240"/>
            <a:ext cx="3246120" cy="530280"/>
          </a:xfrm>
          <a:prstGeom prst="roundRect">
            <a:avLst/>
          </a:prstGeom>
          <a:solidFill>
            <a:srgbClr val="F1EDFF"/>
          </a:solidFill>
          <a:ln w="0">
            <a:noFill/>
          </a:ln>
        </p:spPr>
        <p:txBody>
          <a:bodyPr lIns="146160" rIns="146160" anchor="ctr" anchorCtr="1">
            <a:noAutofit/>
          </a:bodyPr>
          <a:p>
            <a:r>
              <a:rPr lang="zh-CN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提供标准 </a:t>
            </a:r>
            <a:r>
              <a:rPr lang="en-US" sz="1400" b="0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Tool / Skill</a:t>
            </a:r>
            <a:r>
              <a:rPr lang="en-US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 </a:t>
            </a:r>
            <a:r>
              <a:rPr lang="zh-CN" sz="1400" b="0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接口，支持更多 </a:t>
            </a:r>
            <a:r>
              <a:rPr lang="en-US" sz="1400" b="0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eBPF hook</a:t>
            </a:r>
            <a:endParaRPr lang="en-US" sz="14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1" name="文本框 830"/>
          <p:cNvSpPr txBox="1"/>
          <p:nvPr/>
        </p:nvSpPr>
        <p:spPr>
          <a:xfrm>
            <a:off x="658440" y="4023360"/>
            <a:ext cx="109728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交付基线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32" name="文本框 831"/>
          <p:cNvSpPr txBox="1"/>
          <p:nvPr/>
        </p:nvSpPr>
        <p:spPr>
          <a:xfrm>
            <a:off x="658440" y="4370760"/>
            <a:ext cx="3913560" cy="4114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openEuler 24.03-LTS-SP4 · Linux 6.6 sched_ext</a:t>
            </a:r>
            <a:endParaRPr lang="en-US" sz="140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33" name="文本框 832"/>
          <p:cNvSpPr txBox="1"/>
          <p:nvPr/>
        </p:nvSpPr>
        <p:spPr>
          <a:xfrm>
            <a:off x="658440" y="4892040"/>
            <a:ext cx="380376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目标平台明确，控制面和数据面必须都能真实运行</a:t>
            </a:r>
            <a:r>
              <a:rPr lang="zh-CN" sz="9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。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834" name="圆角矩形 833"/>
          <p:cNvSpPr/>
          <p:nvPr/>
        </p:nvSpPr>
        <p:spPr>
          <a:xfrm>
            <a:off x="5139000" y="1115640"/>
            <a:ext cx="1124640" cy="274320"/>
          </a:xfrm>
          <a:prstGeom prst="roundRect">
            <a:avLst/>
          </a:prstGeom>
          <a:solidFill>
            <a:srgbClr val="E9F8FA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85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我们的拆解</a:t>
            </a:r>
            <a:endParaRPr lang="en-US" sz="850" b="0" strike="noStrike" spc="-1">
              <a:latin typeface="Arial" panose="020B0604020202020204"/>
            </a:endParaRPr>
          </a:p>
        </p:txBody>
      </p:sp>
      <p:sp>
        <p:nvSpPr>
          <p:cNvPr id="835" name="圆角矩形 834"/>
          <p:cNvSpPr/>
          <p:nvPr/>
        </p:nvSpPr>
        <p:spPr>
          <a:xfrm>
            <a:off x="5139000" y="1664280"/>
            <a:ext cx="2240280" cy="658440"/>
          </a:xfrm>
          <a:prstGeom prst="roundRect">
            <a:avLst/>
          </a:prstGeom>
          <a:solidFill>
            <a:srgbClr val="142A5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秒级决策面</a:t>
            </a:r>
            <a:endParaRPr lang="zh-CN" sz="1600" b="1" strike="noStrike" spc="-1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836" name="文本框 835"/>
          <p:cNvSpPr txBox="1"/>
          <p:nvPr/>
        </p:nvSpPr>
        <p:spPr>
          <a:xfrm>
            <a:off x="4806950" y="2450465"/>
            <a:ext cx="3249930" cy="347345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17233D"/>
                </a:solidFill>
                <a:latin typeface="+mj-lt"/>
                <a:ea typeface="Noto Sans CJK SC"/>
                <a:cs typeface="+mj-lt"/>
              </a:rPr>
              <a:t>/proc</a:t>
            </a:r>
            <a:r>
              <a:rPr lang="en-US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 + </a:t>
            </a:r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显式目标 </a:t>
            </a:r>
            <a:r>
              <a:rPr lang="en-US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+ </a:t>
            </a:r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语义 </a:t>
            </a:r>
            <a:r>
              <a:rPr lang="en-US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+ </a:t>
            </a:r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行为窗口</a:t>
            </a:r>
            <a:endParaRPr lang="en-US" sz="1400" b="0" strike="noStrike" spc="-1">
              <a:latin typeface="Arial" panose="020B0604020202020204"/>
            </a:endParaRPr>
          </a:p>
        </p:txBody>
      </p:sp>
      <p:sp>
        <p:nvSpPr>
          <p:cNvPr id="837" name="文本框 836"/>
          <p:cNvSpPr txBox="1"/>
          <p:nvPr/>
        </p:nvSpPr>
        <p:spPr>
          <a:xfrm>
            <a:off x="5160065" y="2862000"/>
            <a:ext cx="306324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9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回答“任务是什么、应归入哪一类”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838" name="文本框 837"/>
          <p:cNvSpPr txBox="1"/>
          <p:nvPr/>
        </p:nvSpPr>
        <p:spPr>
          <a:xfrm>
            <a:off x="7571160" y="1810440"/>
            <a:ext cx="38412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19B9D7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839" name="圆角矩形 838"/>
          <p:cNvSpPr/>
          <p:nvPr/>
        </p:nvSpPr>
        <p:spPr>
          <a:xfrm>
            <a:off x="8065080" y="1664280"/>
            <a:ext cx="2395800" cy="65844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微秒级数据面</a:t>
            </a:r>
            <a:endParaRPr lang="zh-CN" sz="1600" b="1" strike="noStrike" spc="-1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840" name="文本框 839"/>
          <p:cNvSpPr txBox="1"/>
          <p:nvPr/>
        </p:nvSpPr>
        <p:spPr>
          <a:xfrm>
            <a:off x="8101330" y="2450465"/>
            <a:ext cx="3995420" cy="347345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eBPF select_cpu / enqueue / dispatch</a:t>
            </a:r>
            <a:endParaRPr lang="en-US" sz="1400" b="1" strike="noStrike" spc="-1">
              <a:solidFill>
                <a:srgbClr val="17233D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41" name="文本框 840"/>
          <p:cNvSpPr txBox="1"/>
          <p:nvPr/>
        </p:nvSpPr>
        <p:spPr>
          <a:xfrm>
            <a:off x="8101440" y="2862000"/>
            <a:ext cx="318204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9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回答“现在去哪颗 </a:t>
            </a:r>
            <a:r>
              <a:rPr lang="en-US" sz="9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CPU</a:t>
            </a:r>
            <a:r>
              <a:rPr lang="zh-CN" sz="9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、拿多少时间片”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842" name="圆角矩形 841"/>
          <p:cNvSpPr/>
          <p:nvPr/>
        </p:nvSpPr>
        <p:spPr>
          <a:xfrm>
            <a:off x="5139000" y="3749040"/>
            <a:ext cx="6089760" cy="120708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843" name="文本框 842"/>
          <p:cNvSpPr txBox="1"/>
          <p:nvPr/>
        </p:nvSpPr>
        <p:spPr>
          <a:xfrm>
            <a:off x="5376600" y="3968640"/>
            <a:ext cx="105156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950" b="1" strike="noStrike" spc="-1">
                <a:solidFill>
                  <a:srgbClr val="19B9D7"/>
                </a:solidFill>
                <a:latin typeface="Noto Sans CJK SC"/>
                <a:ea typeface="Noto Sans CJK SC"/>
              </a:rPr>
              <a:t>设计边界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844" name="文本框 843"/>
          <p:cNvSpPr txBox="1"/>
          <p:nvPr/>
        </p:nvSpPr>
        <p:spPr>
          <a:xfrm>
            <a:off x="5376600" y="4316040"/>
            <a:ext cx="3246120" cy="3474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7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LLM </a:t>
            </a:r>
            <a:r>
              <a:rPr lang="zh-CN" sz="17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不进入调度热路径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845" name="文本框 844"/>
          <p:cNvSpPr txBox="1"/>
          <p:nvPr/>
        </p:nvSpPr>
        <p:spPr>
          <a:xfrm>
            <a:off x="5394960" y="4709160"/>
            <a:ext cx="532188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900" b="0" strike="noStrike" spc="-1">
                <a:solidFill>
                  <a:srgbClr val="C9D6F2"/>
                </a:solidFill>
                <a:latin typeface="Noto Sans CJK SC"/>
                <a:ea typeface="Noto Sans CJK SC"/>
              </a:rPr>
              <a:t>新任务立即按 </a:t>
            </a:r>
            <a:r>
              <a:rPr lang="en-US" sz="900" b="0" strike="noStrike" spc="-1">
                <a:solidFill>
                  <a:srgbClr val="C9D6F2"/>
                </a:solidFill>
                <a:latin typeface="Noto Sans CJK SC"/>
                <a:ea typeface="Noto Sans CJK SC"/>
              </a:rPr>
              <a:t>Balanced </a:t>
            </a:r>
            <a:r>
              <a:rPr lang="zh-CN" sz="900" b="0" strike="noStrike" spc="-1">
                <a:solidFill>
                  <a:srgbClr val="C9D6F2"/>
                </a:solidFill>
                <a:latin typeface="Noto Sans CJK SC"/>
                <a:ea typeface="Noto Sans CJK SC"/>
              </a:rPr>
              <a:t>或既有进程默认类运行。</a:t>
            </a:r>
            <a:endParaRPr lang="en-US" sz="90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文本框 845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1.2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847" name="文本框 846"/>
          <p:cNvSpPr txBox="1"/>
          <p:nvPr/>
        </p:nvSpPr>
        <p:spPr>
          <a:xfrm>
            <a:off x="1078920" y="311040"/>
            <a:ext cx="749808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设计目标：快、准、稳、可扩展</a:t>
            </a:r>
            <a:endParaRPr lang="en-US" sz="2100" b="0" strike="noStrike" spc="-1">
              <a:latin typeface="Arial" panose="020B0604020202020204"/>
            </a:endParaRPr>
          </a:p>
        </p:txBody>
      </p:sp>
      <p:sp>
        <p:nvSpPr>
          <p:cNvPr id="848" name="矩形 847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849" name="矩形 848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850" name="文本框 849"/>
          <p:cNvSpPr txBox="1"/>
          <p:nvPr/>
        </p:nvSpPr>
        <p:spPr>
          <a:xfrm>
            <a:off x="640080" y="1334880"/>
            <a:ext cx="41148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01</a:t>
            </a:r>
            <a:endParaRPr lang="en-US" sz="900" b="0" strike="noStrike" spc="-1">
              <a:latin typeface="Arial" panose="020B0604020202020204"/>
            </a:endParaRPr>
          </a:p>
        </p:txBody>
      </p:sp>
      <p:sp>
        <p:nvSpPr>
          <p:cNvPr id="851" name="椭圆 850"/>
          <p:cNvSpPr/>
          <p:nvPr/>
        </p:nvSpPr>
        <p:spPr>
          <a:xfrm>
            <a:off x="1134000" y="1234440"/>
            <a:ext cx="567000" cy="567000"/>
          </a:xfrm>
          <a:prstGeom prst="ellipse">
            <a:avLst/>
          </a:prstGeom>
          <a:solidFill>
            <a:srgbClr val="244DE8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zh-CN" sz="15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快</a:t>
            </a:r>
            <a:endParaRPr lang="en-US" sz="1500" b="0" strike="noStrike" spc="-1">
              <a:latin typeface="Arial" panose="020B0604020202020204"/>
            </a:endParaRPr>
          </a:p>
        </p:txBody>
      </p:sp>
      <p:sp>
        <p:nvSpPr>
          <p:cNvPr id="852" name="文本框 851"/>
          <p:cNvSpPr txBox="1"/>
          <p:nvPr/>
        </p:nvSpPr>
        <p:spPr>
          <a:xfrm>
            <a:off x="1920240" y="1252800"/>
            <a:ext cx="2057400" cy="329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任务不等模型</a:t>
            </a:r>
            <a:endParaRPr lang="zh-CN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853" name="文本框 852"/>
          <p:cNvSpPr txBox="1"/>
          <p:nvPr/>
        </p:nvSpPr>
        <p:spPr>
          <a:xfrm>
            <a:off x="4005000" y="1271160"/>
            <a:ext cx="6949440" cy="365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发现后立即准入；默认 </a:t>
            </a:r>
            <a:r>
              <a:rPr lang="en-US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Balanced</a:t>
            </a:r>
            <a:r>
              <a:rPr lang="zh-CN" sz="140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，语义异步覆盖</a:t>
            </a:r>
            <a:endParaRPr lang="zh-CN" sz="1400" b="0" strike="noStrike" spc="-1">
              <a:solidFill>
                <a:srgbClr val="63718C"/>
              </a:solidFill>
              <a:latin typeface="Noto Sans CJK SC"/>
              <a:ea typeface="Noto Sans CJK SC"/>
            </a:endParaRPr>
          </a:p>
        </p:txBody>
      </p:sp>
      <p:sp>
        <p:nvSpPr>
          <p:cNvPr id="854" name="矩形 853"/>
          <p:cNvSpPr/>
          <p:nvPr/>
        </p:nvSpPr>
        <p:spPr>
          <a:xfrm>
            <a:off x="1901880" y="1746360"/>
            <a:ext cx="9098280" cy="32040"/>
          </a:xfrm>
          <a:prstGeom prst="rect">
            <a:avLst/>
          </a:prstGeom>
          <a:solidFill>
            <a:srgbClr val="D7E0ED"/>
          </a:solidFill>
          <a:ln w="0">
            <a:noFill/>
          </a:ln>
        </p:spPr>
      </p:sp>
      <p:sp>
        <p:nvSpPr>
          <p:cNvPr id="855" name="文本框 854"/>
          <p:cNvSpPr txBox="1"/>
          <p:nvPr/>
        </p:nvSpPr>
        <p:spPr>
          <a:xfrm>
            <a:off x="640080" y="2414160"/>
            <a:ext cx="41148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0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02</a:t>
            </a:r>
            <a:endParaRPr lang="en-US" sz="900" b="0" strike="noStrike" spc="-1">
              <a:latin typeface="Arial" panose="020B0604020202020204"/>
            </a:endParaRPr>
          </a:p>
        </p:txBody>
      </p:sp>
      <p:sp>
        <p:nvSpPr>
          <p:cNvPr id="856" name="椭圆 855"/>
          <p:cNvSpPr/>
          <p:nvPr/>
        </p:nvSpPr>
        <p:spPr>
          <a:xfrm>
            <a:off x="1134000" y="2313360"/>
            <a:ext cx="567000" cy="567000"/>
          </a:xfrm>
          <a:prstGeom prst="ellipse">
            <a:avLst/>
          </a:prstGeom>
          <a:solidFill>
            <a:srgbClr val="159A8C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zh-CN" sz="15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准</a:t>
            </a:r>
            <a:endParaRPr lang="en-US" sz="1500" b="0" strike="noStrike" spc="-1">
              <a:latin typeface="Arial" panose="020B0604020202020204"/>
            </a:endParaRPr>
          </a:p>
        </p:txBody>
      </p:sp>
      <p:sp>
        <p:nvSpPr>
          <p:cNvPr id="857" name="文本框 856"/>
          <p:cNvSpPr txBox="1"/>
          <p:nvPr/>
        </p:nvSpPr>
        <p:spPr>
          <a:xfrm>
            <a:off x="1920240" y="2331720"/>
            <a:ext cx="2057400" cy="329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多证据收敛</a:t>
            </a:r>
            <a:endParaRPr lang="zh-CN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858" name="文本框 857"/>
          <p:cNvSpPr txBox="1"/>
          <p:nvPr/>
        </p:nvSpPr>
        <p:spPr>
          <a:xfrm>
            <a:off x="4005000" y="2350080"/>
            <a:ext cx="6949440" cy="365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本地目标、</a:t>
            </a:r>
            <a:r>
              <a:rPr lang="en-US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DeepSeek proposal</a:t>
            </a:r>
            <a:r>
              <a:rPr lang="zh-CN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、调度行为窗口分工明确</a:t>
            </a:r>
            <a:endParaRPr lang="zh-CN" b="0" strike="noStrike" spc="-1">
              <a:solidFill>
                <a:srgbClr val="63718C"/>
              </a:solidFill>
              <a:latin typeface="Noto Sans CJK SC"/>
              <a:ea typeface="Noto Sans CJK SC"/>
            </a:endParaRPr>
          </a:p>
        </p:txBody>
      </p:sp>
      <p:sp>
        <p:nvSpPr>
          <p:cNvPr id="859" name="矩形 858"/>
          <p:cNvSpPr/>
          <p:nvPr/>
        </p:nvSpPr>
        <p:spPr>
          <a:xfrm>
            <a:off x="1901880" y="2825640"/>
            <a:ext cx="9098280" cy="32040"/>
          </a:xfrm>
          <a:prstGeom prst="rect">
            <a:avLst/>
          </a:prstGeom>
          <a:solidFill>
            <a:srgbClr val="D7E0ED"/>
          </a:solidFill>
          <a:ln w="0">
            <a:noFill/>
          </a:ln>
        </p:spPr>
      </p:sp>
      <p:sp>
        <p:nvSpPr>
          <p:cNvPr id="860" name="文本框 859"/>
          <p:cNvSpPr txBox="1"/>
          <p:nvPr/>
        </p:nvSpPr>
        <p:spPr>
          <a:xfrm>
            <a:off x="640080" y="3493080"/>
            <a:ext cx="41148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00" b="1" strike="noStrike" spc="-1">
                <a:solidFill>
                  <a:srgbClr val="D74B5A"/>
                </a:solidFill>
                <a:latin typeface="Noto Sans CJK SC"/>
                <a:ea typeface="Noto Sans CJK SC"/>
              </a:rPr>
              <a:t>03</a:t>
            </a:r>
            <a:endParaRPr lang="en-US" sz="900" b="0" strike="noStrike" spc="-1">
              <a:latin typeface="Arial" panose="020B0604020202020204"/>
            </a:endParaRPr>
          </a:p>
        </p:txBody>
      </p:sp>
      <p:sp>
        <p:nvSpPr>
          <p:cNvPr id="861" name="椭圆 860"/>
          <p:cNvSpPr/>
          <p:nvPr/>
        </p:nvSpPr>
        <p:spPr>
          <a:xfrm>
            <a:off x="1134000" y="3392280"/>
            <a:ext cx="567000" cy="567000"/>
          </a:xfrm>
          <a:prstGeom prst="ellipse">
            <a:avLst/>
          </a:prstGeom>
          <a:solidFill>
            <a:srgbClr val="D74B5A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zh-CN" sz="15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稳</a:t>
            </a:r>
            <a:endParaRPr lang="en-US" sz="1500" b="0" strike="noStrike" spc="-1">
              <a:latin typeface="Arial" panose="020B0604020202020204"/>
            </a:endParaRPr>
          </a:p>
        </p:txBody>
      </p:sp>
      <p:sp>
        <p:nvSpPr>
          <p:cNvPr id="862" name="文本框 861"/>
          <p:cNvSpPr txBox="1"/>
          <p:nvPr/>
        </p:nvSpPr>
        <p:spPr>
          <a:xfrm>
            <a:off x="1920240" y="3410640"/>
            <a:ext cx="2057400" cy="329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状态可恢复</a:t>
            </a:r>
            <a:endParaRPr lang="zh-CN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863" name="文本框 862"/>
          <p:cNvSpPr txBox="1"/>
          <p:nvPr/>
        </p:nvSpPr>
        <p:spPr>
          <a:xfrm>
            <a:off x="4005000" y="3429000"/>
            <a:ext cx="6949440" cy="365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stable identity + epoch + generation + ACK / rollback</a:t>
            </a:r>
            <a:endParaRPr lang="en-US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64" name="矩形 863"/>
          <p:cNvSpPr/>
          <p:nvPr/>
        </p:nvSpPr>
        <p:spPr>
          <a:xfrm>
            <a:off x="1901880" y="3904560"/>
            <a:ext cx="9098280" cy="32040"/>
          </a:xfrm>
          <a:prstGeom prst="rect">
            <a:avLst/>
          </a:prstGeom>
          <a:solidFill>
            <a:srgbClr val="D7E0ED"/>
          </a:solidFill>
          <a:ln w="0">
            <a:noFill/>
          </a:ln>
        </p:spPr>
      </p:sp>
      <p:sp>
        <p:nvSpPr>
          <p:cNvPr id="865" name="文本框 864"/>
          <p:cNvSpPr txBox="1"/>
          <p:nvPr/>
        </p:nvSpPr>
        <p:spPr>
          <a:xfrm>
            <a:off x="640080" y="4572000"/>
            <a:ext cx="41148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00" b="1" strike="noStrike" spc="-1">
                <a:solidFill>
                  <a:srgbClr val="6239E7"/>
                </a:solidFill>
                <a:latin typeface="Noto Sans CJK SC"/>
                <a:ea typeface="Noto Sans CJK SC"/>
              </a:rPr>
              <a:t>04</a:t>
            </a:r>
            <a:endParaRPr lang="en-US" sz="900" b="0" strike="noStrike" spc="-1">
              <a:latin typeface="Arial" panose="020B0604020202020204"/>
            </a:endParaRPr>
          </a:p>
        </p:txBody>
      </p:sp>
      <p:sp>
        <p:nvSpPr>
          <p:cNvPr id="866" name="椭圆 865"/>
          <p:cNvSpPr/>
          <p:nvPr/>
        </p:nvSpPr>
        <p:spPr>
          <a:xfrm>
            <a:off x="1134000" y="4471560"/>
            <a:ext cx="567000" cy="567000"/>
          </a:xfrm>
          <a:prstGeom prst="ellipse">
            <a:avLst/>
          </a:prstGeom>
          <a:solidFill>
            <a:srgbClr val="6239E7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zh-CN" sz="15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开</a:t>
            </a:r>
            <a:endParaRPr lang="en-US" sz="1500" b="0" strike="noStrike" spc="-1">
              <a:latin typeface="Arial" panose="020B0604020202020204"/>
            </a:endParaRPr>
          </a:p>
        </p:txBody>
      </p:sp>
      <p:sp>
        <p:nvSpPr>
          <p:cNvPr id="867" name="文本框 866"/>
          <p:cNvSpPr txBox="1"/>
          <p:nvPr/>
        </p:nvSpPr>
        <p:spPr>
          <a:xfrm>
            <a:off x="1920240" y="4489560"/>
            <a:ext cx="2057400" cy="329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接口可组合</a:t>
            </a:r>
            <a:endParaRPr lang="zh-CN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868" name="文本框 867"/>
          <p:cNvSpPr txBox="1"/>
          <p:nvPr/>
        </p:nvSpPr>
        <p:spPr>
          <a:xfrm>
            <a:off x="4005000" y="4507920"/>
            <a:ext cx="6949440" cy="365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只读 </a:t>
            </a:r>
            <a:r>
              <a:rPr lang="en-US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Tool</a:t>
            </a:r>
            <a:r>
              <a:rPr lang="zh-CN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、控制协议与 </a:t>
            </a:r>
            <a:r>
              <a:rPr lang="en-US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eBPF hook</a:t>
            </a:r>
            <a:r>
              <a:rPr lang="en-US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 </a:t>
            </a:r>
            <a:r>
              <a:rPr lang="zh-CN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保持清晰边界</a:t>
            </a:r>
            <a:endParaRPr lang="zh-CN" b="0" strike="noStrike" spc="-1">
              <a:solidFill>
                <a:srgbClr val="63718C"/>
              </a:solidFill>
              <a:latin typeface="Noto Sans CJK SC"/>
              <a:ea typeface="Noto Sans CJK SC"/>
            </a:endParaRPr>
          </a:p>
        </p:txBody>
      </p:sp>
      <p:sp>
        <p:nvSpPr>
          <p:cNvPr id="869" name="矩形 868"/>
          <p:cNvSpPr/>
          <p:nvPr/>
        </p:nvSpPr>
        <p:spPr>
          <a:xfrm>
            <a:off x="1901880" y="4983480"/>
            <a:ext cx="9098280" cy="32040"/>
          </a:xfrm>
          <a:prstGeom prst="rect">
            <a:avLst/>
          </a:prstGeom>
          <a:solidFill>
            <a:srgbClr val="D7E0ED"/>
          </a:solidFill>
          <a:ln w="0">
            <a:noFill/>
          </a:ln>
        </p:spPr>
      </p:sp>
      <p:sp>
        <p:nvSpPr>
          <p:cNvPr id="870" name="圆角矩形 869"/>
          <p:cNvSpPr/>
          <p:nvPr/>
        </p:nvSpPr>
        <p:spPr>
          <a:xfrm>
            <a:off x="640080" y="5623560"/>
            <a:ext cx="10716840" cy="52128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871" name="文本框 870"/>
          <p:cNvSpPr txBox="1"/>
          <p:nvPr/>
        </p:nvSpPr>
        <p:spPr>
          <a:xfrm>
            <a:off x="877680" y="5733305"/>
            <a:ext cx="932760" cy="2102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200" b="1" strike="noStrike" spc="-1">
                <a:solidFill>
                  <a:srgbClr val="19B9D7"/>
                </a:solidFill>
                <a:latin typeface="Noto Sans CJK SC"/>
                <a:ea typeface="Noto Sans CJK SC"/>
              </a:rPr>
              <a:t>系统底线</a:t>
            </a:r>
            <a:endParaRPr lang="zh-CN" sz="1200" b="1" strike="noStrike" spc="-1">
              <a:solidFill>
                <a:srgbClr val="19B9D7"/>
              </a:solidFill>
              <a:latin typeface="Noto Sans CJK SC"/>
              <a:ea typeface="Noto Sans CJK SC"/>
            </a:endParaRPr>
          </a:p>
        </p:txBody>
      </p:sp>
      <p:sp>
        <p:nvSpPr>
          <p:cNvPr id="872" name="文本框 871"/>
          <p:cNvSpPr txBox="1"/>
          <p:nvPr/>
        </p:nvSpPr>
        <p:spPr>
          <a:xfrm>
            <a:off x="1874520" y="5706000"/>
            <a:ext cx="89154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外部语义服务、控制连接或动态 </a:t>
            </a:r>
            <a:r>
              <a:rPr lang="en-US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policy</a:t>
            </a:r>
            <a:r>
              <a:rPr lang="en-US" sz="14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 </a:t>
            </a:r>
            <a:r>
              <a:rPr lang="zh-CN" sz="14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暂不可用时，内核调度仍保持确定性运行。</a:t>
            </a:r>
            <a:endParaRPr lang="zh-CN" sz="1400" b="1" strike="noStrike" spc="-1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文本框 872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1.3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874" name="文本框 873"/>
          <p:cNvSpPr txBox="1"/>
          <p:nvPr/>
        </p:nvSpPr>
        <p:spPr>
          <a:xfrm>
            <a:off x="1078920" y="311040"/>
            <a:ext cx="749808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总体架构：决策面负责“理解”，数据面负责“执行”</a:t>
            </a:r>
            <a:endParaRPr lang="en-US" sz="2100" b="0" strike="noStrike" spc="-1">
              <a:latin typeface="Arial" panose="020B0604020202020204"/>
            </a:endParaRPr>
          </a:p>
        </p:txBody>
      </p:sp>
      <p:sp>
        <p:nvSpPr>
          <p:cNvPr id="875" name="矩形 874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876" name="矩形 875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877" name="圆角矩形 876"/>
          <p:cNvSpPr/>
          <p:nvPr/>
        </p:nvSpPr>
        <p:spPr>
          <a:xfrm>
            <a:off x="594360" y="1115640"/>
            <a:ext cx="10991160" cy="210312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</p:sp>
      <p:sp>
        <p:nvSpPr>
          <p:cNvPr id="878" name="圆角矩形 877"/>
          <p:cNvSpPr/>
          <p:nvPr/>
        </p:nvSpPr>
        <p:spPr>
          <a:xfrm>
            <a:off x="804600" y="1298520"/>
            <a:ext cx="1554480" cy="27432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05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秒级 </a:t>
            </a:r>
            <a:r>
              <a:rPr lang="en-US" sz="105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· </a:t>
            </a:r>
            <a:r>
              <a:rPr lang="zh-CN" sz="105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用户态决策面</a:t>
            </a:r>
            <a:endParaRPr lang="zh-CN" sz="1050" b="1" strike="noStrike" spc="-1">
              <a:solidFill>
                <a:srgbClr val="244DE8"/>
              </a:solidFill>
              <a:latin typeface="Noto Sans CJK SC"/>
              <a:ea typeface="Noto Sans CJK SC"/>
            </a:endParaRPr>
          </a:p>
        </p:txBody>
      </p:sp>
      <p:sp>
        <p:nvSpPr>
          <p:cNvPr id="879" name="圆角矩形 878"/>
          <p:cNvSpPr/>
          <p:nvPr/>
        </p:nvSpPr>
        <p:spPr>
          <a:xfrm>
            <a:off x="822960" y="1874520"/>
            <a:ext cx="1417320" cy="7862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400" b="1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/proc</a:t>
            </a:r>
            <a:endParaRPr lang="en-US" sz="1400" b="0" strike="noStrike" spc="-1">
              <a:latin typeface="Arial" panose="020B0604020202020204"/>
            </a:endParaRPr>
          </a:p>
          <a:p>
            <a:pPr algn="ctr">
              <a:buNone/>
            </a:pPr>
            <a:r>
              <a:rPr lang="zh-CN" sz="1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有界元数据</a:t>
            </a:r>
            <a:endParaRPr lang="zh-CN" sz="1400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880" name="文本框 879"/>
          <p:cNvSpPr txBox="1"/>
          <p:nvPr/>
        </p:nvSpPr>
        <p:spPr>
          <a:xfrm>
            <a:off x="2304360" y="2103120"/>
            <a:ext cx="320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881" name="圆角矩形 880"/>
          <p:cNvSpPr/>
          <p:nvPr/>
        </p:nvSpPr>
        <p:spPr>
          <a:xfrm>
            <a:off x="2697480" y="1755720"/>
            <a:ext cx="2084760" cy="1005840"/>
          </a:xfrm>
          <a:prstGeom prst="roundRect">
            <a:avLst/>
          </a:prstGeom>
          <a:solidFill>
            <a:srgbClr val="142A5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50" b="1" strike="noStrike" spc="-1">
                <a:solidFill>
                  <a:srgbClr val="FFFFFF"/>
                </a:solidFill>
                <a:latin typeface="+mj-lt"/>
                <a:ea typeface="Noto Sans CJK SC"/>
                <a:cs typeface="+mj-lt"/>
              </a:rPr>
              <a:t>Adaptive OS </a:t>
            </a:r>
            <a:r>
              <a:rPr lang="en-US" sz="1600" b="1" strike="noStrike" spc="-1">
                <a:solidFill>
                  <a:srgbClr val="FFFFFF"/>
                </a:solidFill>
                <a:latin typeface="+mj-lt"/>
                <a:ea typeface="Noto Sans CJK SC"/>
                <a:cs typeface="+mj-lt"/>
              </a:rPr>
              <a:t>Agent</a:t>
            </a:r>
            <a:endParaRPr lang="en-US" sz="1250" b="0" strike="noStrike" spc="-1">
              <a:latin typeface="+mj-lt"/>
              <a:cs typeface="+mj-lt"/>
            </a:endParaRPr>
          </a:p>
          <a:p>
            <a:pPr algn="ctr">
              <a:buNone/>
            </a:pPr>
            <a:r>
              <a:rPr lang="zh-CN" sz="12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发现 </a:t>
            </a:r>
            <a:r>
              <a:rPr lang="en-US" sz="12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· </a:t>
            </a:r>
            <a:r>
              <a:rPr lang="zh-CN" sz="12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准入 </a:t>
            </a:r>
            <a:r>
              <a:rPr lang="en-US" sz="12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· </a:t>
            </a:r>
            <a:r>
              <a:rPr lang="zh-CN" sz="12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分类</a:t>
            </a:r>
            <a:endParaRPr lang="en-US" sz="1250" b="0" strike="noStrike" spc="-1">
              <a:latin typeface="Arial" panose="020B0604020202020204"/>
            </a:endParaRPr>
          </a:p>
        </p:txBody>
      </p:sp>
      <p:sp>
        <p:nvSpPr>
          <p:cNvPr id="882" name="文本框 881"/>
          <p:cNvSpPr txBox="1"/>
          <p:nvPr/>
        </p:nvSpPr>
        <p:spPr>
          <a:xfrm>
            <a:off x="4864680" y="2103120"/>
            <a:ext cx="320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883" name="圆角矩形 882"/>
          <p:cNvSpPr/>
          <p:nvPr/>
        </p:nvSpPr>
        <p:spPr>
          <a:xfrm>
            <a:off x="5266800" y="1755720"/>
            <a:ext cx="2121480" cy="10058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244DE8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ClassificationRegistry</a:t>
            </a:r>
            <a:endParaRPr lang="en-US" sz="1000" b="0" strike="noStrike" spc="-1">
              <a:latin typeface="Arial" panose="020B0604020202020204"/>
            </a:endParaRPr>
          </a:p>
          <a:p>
            <a:pPr algn="ctr">
              <a:buNone/>
            </a:pPr>
            <a:r>
              <a:rPr lang="en-US" sz="100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class · stage · generation</a:t>
            </a:r>
            <a:endParaRPr lang="en-US" sz="100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84" name="文本框 883"/>
          <p:cNvSpPr txBox="1"/>
          <p:nvPr/>
        </p:nvSpPr>
        <p:spPr>
          <a:xfrm>
            <a:off x="7461360" y="2103120"/>
            <a:ext cx="320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885" name="圆角矩形 884"/>
          <p:cNvSpPr/>
          <p:nvPr/>
        </p:nvSpPr>
        <p:spPr>
          <a:xfrm>
            <a:off x="7845480" y="1755720"/>
            <a:ext cx="2030040" cy="10058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59A8C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Rust scheduler</a:t>
            </a:r>
            <a:endParaRPr lang="en-US" sz="10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100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identity · policy · control</a:t>
            </a:r>
            <a:endParaRPr lang="en-US" sz="100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86" name="圆角矩形 885"/>
          <p:cNvSpPr/>
          <p:nvPr/>
        </p:nvSpPr>
        <p:spPr>
          <a:xfrm>
            <a:off x="10040040" y="1755720"/>
            <a:ext cx="1298520" cy="1005840"/>
          </a:xfrm>
          <a:prstGeom prst="roundRect">
            <a:avLst/>
          </a:prstGeom>
          <a:solidFill>
            <a:srgbClr val="E9F8FA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05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只读 </a:t>
            </a:r>
            <a:r>
              <a:rPr lang="en-US" sz="1050" b="1" strike="noStrike" spc="-1">
                <a:solidFill>
                  <a:srgbClr val="159A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Tool</a:t>
            </a:r>
            <a:endParaRPr lang="en-US" sz="105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1050" b="1" strike="noStrike" spc="-1">
                <a:solidFill>
                  <a:srgbClr val="159A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list / get / health / stats</a:t>
            </a:r>
            <a:endParaRPr lang="en-US" sz="1050" b="1" strike="noStrike" spc="-1">
              <a:solidFill>
                <a:srgbClr val="159A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87" name="圆角矩形 886"/>
          <p:cNvSpPr/>
          <p:nvPr/>
        </p:nvSpPr>
        <p:spPr>
          <a:xfrm>
            <a:off x="594360" y="3456360"/>
            <a:ext cx="10991160" cy="2322720"/>
          </a:xfrm>
          <a:prstGeom prst="roundRect">
            <a:avLst/>
          </a:prstGeom>
          <a:solidFill>
            <a:srgbClr val="EEF3FA"/>
          </a:solidFill>
          <a:ln w="0">
            <a:noFill/>
          </a:ln>
        </p:spPr>
      </p:sp>
      <p:sp>
        <p:nvSpPr>
          <p:cNvPr id="888" name="圆角矩形 887"/>
          <p:cNvSpPr/>
          <p:nvPr/>
        </p:nvSpPr>
        <p:spPr>
          <a:xfrm>
            <a:off x="804600" y="3657600"/>
            <a:ext cx="1554480" cy="274320"/>
          </a:xfrm>
          <a:prstGeom prst="roundRect">
            <a:avLst/>
          </a:prstGeom>
          <a:solidFill>
            <a:srgbClr val="FFFF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85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微秒级 </a:t>
            </a:r>
            <a:r>
              <a:rPr lang="en-US" sz="85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· </a:t>
            </a:r>
            <a:r>
              <a:rPr lang="zh-CN" sz="85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内核数据面</a:t>
            </a:r>
            <a:endParaRPr lang="en-US" sz="850" b="0" strike="noStrike" spc="-1">
              <a:latin typeface="Arial" panose="020B0604020202020204"/>
            </a:endParaRPr>
          </a:p>
        </p:txBody>
      </p:sp>
      <p:sp>
        <p:nvSpPr>
          <p:cNvPr id="889" name="圆角矩形 888"/>
          <p:cNvSpPr/>
          <p:nvPr/>
        </p:nvSpPr>
        <p:spPr>
          <a:xfrm>
            <a:off x="932760" y="4251960"/>
            <a:ext cx="1572840" cy="7682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task_control</a:t>
            </a:r>
            <a:endParaRPr lang="en-US" sz="12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zh-CN" sz="1200" b="1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双槽 </a:t>
            </a:r>
            <a:r>
              <a:rPr lang="en-US" sz="1200" b="1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policy</a:t>
            </a:r>
            <a:endParaRPr lang="en-US" sz="1200" b="1" strike="noStrike" spc="-1">
              <a:solidFill>
                <a:srgbClr val="17233D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90" name="文本框 889"/>
          <p:cNvSpPr txBox="1"/>
          <p:nvPr/>
        </p:nvSpPr>
        <p:spPr>
          <a:xfrm>
            <a:off x="2633400" y="4462200"/>
            <a:ext cx="320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891" name="圆角矩形 890"/>
          <p:cNvSpPr/>
          <p:nvPr/>
        </p:nvSpPr>
        <p:spPr>
          <a:xfrm>
            <a:off x="3072240" y="4069080"/>
            <a:ext cx="1920240" cy="1078920"/>
          </a:xfrm>
          <a:prstGeom prst="roundRect">
            <a:avLst/>
          </a:prstGeom>
          <a:solidFill>
            <a:srgbClr val="159A8C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6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eBPF sched_ext</a:t>
            </a:r>
            <a:endParaRPr lang="en-US" sz="16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92" name="文本框 891"/>
          <p:cNvSpPr txBox="1"/>
          <p:nvPr/>
        </p:nvSpPr>
        <p:spPr>
          <a:xfrm>
            <a:off x="3218760" y="4709160"/>
            <a:ext cx="1664280" cy="219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800" b="0" strike="noStrike" spc="-1">
                <a:solidFill>
                  <a:srgbClr val="D9FFF9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select_cpu → enqueue → dispatch</a:t>
            </a:r>
            <a:endParaRPr lang="en-US" sz="8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3" name="文本框 892"/>
          <p:cNvSpPr txBox="1"/>
          <p:nvPr/>
        </p:nvSpPr>
        <p:spPr>
          <a:xfrm>
            <a:off x="5102280" y="4462200"/>
            <a:ext cx="320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894" name="圆角矩形 893"/>
          <p:cNvSpPr/>
          <p:nvPr/>
        </p:nvSpPr>
        <p:spPr>
          <a:xfrm>
            <a:off x="5532120" y="4087440"/>
            <a:ext cx="2395800" cy="4388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per-CPU virtual-deadline lanes</a:t>
            </a:r>
            <a:endParaRPr lang="en-US" sz="120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95" name="圆角矩形 894"/>
          <p:cNvSpPr/>
          <p:nvPr/>
        </p:nvSpPr>
        <p:spPr>
          <a:xfrm>
            <a:off x="5532120" y="4663440"/>
            <a:ext cx="2395800" cy="4388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shared core / domain lanes</a:t>
            </a:r>
            <a:endParaRPr lang="en-US" sz="120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896" name="文本框 895"/>
          <p:cNvSpPr txBox="1"/>
          <p:nvPr/>
        </p:nvSpPr>
        <p:spPr>
          <a:xfrm>
            <a:off x="8065080" y="4462200"/>
            <a:ext cx="320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897" name="圆角矩形 896"/>
          <p:cNvSpPr/>
          <p:nvPr/>
        </p:nvSpPr>
        <p:spPr>
          <a:xfrm>
            <a:off x="8485560" y="4069080"/>
            <a:ext cx="2541960" cy="107892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400" b="1" strike="noStrike" spc="-1">
                <a:solidFill>
                  <a:srgbClr val="FFFFFF"/>
                </a:solidFill>
                <a:latin typeface="+mj-lt"/>
                <a:ea typeface="Noto Sans CJK SC"/>
                <a:cs typeface="+mj-lt"/>
              </a:rPr>
              <a:t>CPU / core / SMT / LLC / NUMA</a:t>
            </a:r>
            <a:endParaRPr lang="en-US" sz="1400" b="1" strike="noStrike" spc="-1">
              <a:solidFill>
                <a:srgbClr val="FFFFFF"/>
              </a:solidFill>
              <a:latin typeface="+mj-lt"/>
              <a:ea typeface="Noto Sans CJK SC"/>
              <a:cs typeface="+mj-lt"/>
            </a:endParaRPr>
          </a:p>
        </p:txBody>
      </p:sp>
      <p:sp>
        <p:nvSpPr>
          <p:cNvPr id="898" name="直接连接符 897"/>
          <p:cNvSpPr/>
          <p:nvPr/>
        </p:nvSpPr>
        <p:spPr>
          <a:xfrm flipH="1">
            <a:off x="4032360" y="5321880"/>
            <a:ext cx="4983480" cy="475560"/>
          </a:xfrm>
          <a:prstGeom prst="line">
            <a:avLst/>
          </a:prstGeom>
          <a:ln w="14760">
            <a:solidFill>
              <a:srgbClr val="19B9D7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99" name="文本框 898"/>
          <p:cNvSpPr txBox="1"/>
          <p:nvPr/>
        </p:nvSpPr>
        <p:spPr>
          <a:xfrm>
            <a:off x="4827960" y="5696640"/>
            <a:ext cx="352044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50" b="1" strike="noStrike" spc="-1">
                <a:solidFill>
                  <a:srgbClr val="159A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lifecycle + behavior ring buffer</a:t>
            </a:r>
            <a:endParaRPr lang="en-US" sz="1050" b="1" strike="noStrike" spc="-1">
              <a:solidFill>
                <a:srgbClr val="159A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文本框 899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1.4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901" name="文本框 900"/>
          <p:cNvSpPr txBox="1"/>
          <p:nvPr/>
        </p:nvSpPr>
        <p:spPr>
          <a:xfrm>
            <a:off x="1078920" y="311040"/>
            <a:ext cx="749808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一次完整闭环：先安全接管，再逐步收敛</a:t>
            </a:r>
            <a:endParaRPr lang="en-US" sz="2100" b="0" strike="noStrike" spc="-1">
              <a:latin typeface="Arial" panose="020B0604020202020204"/>
            </a:endParaRPr>
          </a:p>
        </p:txBody>
      </p:sp>
      <p:sp>
        <p:nvSpPr>
          <p:cNvPr id="902" name="矩形 901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903" name="矩形 902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904" name="椭圆 903"/>
          <p:cNvSpPr/>
          <p:nvPr/>
        </p:nvSpPr>
        <p:spPr>
          <a:xfrm>
            <a:off x="1143000" y="1481400"/>
            <a:ext cx="438840" cy="438840"/>
          </a:xfrm>
          <a:prstGeom prst="ellipse">
            <a:avLst/>
          </a:prstGeom>
          <a:solidFill>
            <a:srgbClr val="244DE8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01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905" name="圆角矩形 904"/>
          <p:cNvSpPr/>
          <p:nvPr/>
        </p:nvSpPr>
        <p:spPr>
          <a:xfrm>
            <a:off x="658440" y="2048400"/>
            <a:ext cx="1408320" cy="5486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244DE8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发现</a:t>
            </a:r>
            <a:endParaRPr lang="zh-CN" sz="1600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906" name="文本框 905"/>
          <p:cNvSpPr txBox="1"/>
          <p:nvPr/>
        </p:nvSpPr>
        <p:spPr>
          <a:xfrm>
            <a:off x="621720" y="2715840"/>
            <a:ext cx="148140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5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/proc</a:t>
            </a:r>
            <a:r>
              <a:rPr lang="en-US" sz="10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 </a:t>
            </a:r>
            <a:r>
              <a:rPr lang="zh-CN" sz="10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扫描</a:t>
            </a:r>
            <a:endParaRPr lang="zh-CN" sz="1050" b="0" strike="noStrike" spc="-1">
              <a:solidFill>
                <a:srgbClr val="63718C"/>
              </a:solidFill>
              <a:latin typeface="Noto Sans CJK SC"/>
              <a:ea typeface="Noto Sans CJK SC"/>
            </a:endParaRPr>
          </a:p>
        </p:txBody>
      </p:sp>
      <p:sp>
        <p:nvSpPr>
          <p:cNvPr id="907" name="矩形 906"/>
          <p:cNvSpPr/>
          <p:nvPr/>
        </p:nvSpPr>
        <p:spPr>
          <a:xfrm>
            <a:off x="841320" y="3127320"/>
            <a:ext cx="1042560" cy="50400"/>
          </a:xfrm>
          <a:prstGeom prst="rect">
            <a:avLst/>
          </a:prstGeom>
          <a:solidFill>
            <a:srgbClr val="EAF0FF"/>
          </a:solidFill>
          <a:ln w="0">
            <a:noFill/>
          </a:ln>
        </p:spPr>
      </p:sp>
      <p:sp>
        <p:nvSpPr>
          <p:cNvPr id="908" name="文本框 907"/>
          <p:cNvSpPr txBox="1"/>
          <p:nvPr/>
        </p:nvSpPr>
        <p:spPr>
          <a:xfrm>
            <a:off x="2121480" y="2130480"/>
            <a:ext cx="311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09" name="椭圆 908"/>
          <p:cNvSpPr/>
          <p:nvPr/>
        </p:nvSpPr>
        <p:spPr>
          <a:xfrm>
            <a:off x="2990160" y="1481400"/>
            <a:ext cx="438840" cy="438840"/>
          </a:xfrm>
          <a:prstGeom prst="ellipse">
            <a:avLst/>
          </a:prstGeom>
          <a:solidFill>
            <a:srgbClr val="244DE8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02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910" name="圆角矩形 909"/>
          <p:cNvSpPr/>
          <p:nvPr/>
        </p:nvSpPr>
        <p:spPr>
          <a:xfrm>
            <a:off x="2505600" y="2048400"/>
            <a:ext cx="1408320" cy="5486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244DE8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准入</a:t>
            </a:r>
            <a:endParaRPr lang="zh-CN" sz="1600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911" name="文本框 910"/>
          <p:cNvSpPr txBox="1"/>
          <p:nvPr/>
        </p:nvSpPr>
        <p:spPr>
          <a:xfrm>
            <a:off x="2468880" y="2715840"/>
            <a:ext cx="148140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zh-CN" sz="10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仅 </a:t>
            </a:r>
            <a:r>
              <a:rPr lang="en-US" sz="105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SCHED_OTHER</a:t>
            </a:r>
            <a:endParaRPr lang="en-US" sz="1050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12" name="矩形 911"/>
          <p:cNvSpPr/>
          <p:nvPr/>
        </p:nvSpPr>
        <p:spPr>
          <a:xfrm>
            <a:off x="2688480" y="3127320"/>
            <a:ext cx="1042560" cy="50400"/>
          </a:xfrm>
          <a:prstGeom prst="rect">
            <a:avLst/>
          </a:prstGeom>
          <a:solidFill>
            <a:srgbClr val="EAF0FF"/>
          </a:solidFill>
          <a:ln w="0">
            <a:noFill/>
          </a:ln>
        </p:spPr>
      </p:sp>
      <p:sp>
        <p:nvSpPr>
          <p:cNvPr id="913" name="文本框 912"/>
          <p:cNvSpPr txBox="1"/>
          <p:nvPr/>
        </p:nvSpPr>
        <p:spPr>
          <a:xfrm>
            <a:off x="3968640" y="2130480"/>
            <a:ext cx="311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14" name="椭圆 913"/>
          <p:cNvSpPr/>
          <p:nvPr/>
        </p:nvSpPr>
        <p:spPr>
          <a:xfrm>
            <a:off x="4837320" y="1481400"/>
            <a:ext cx="438840" cy="438840"/>
          </a:xfrm>
          <a:prstGeom prst="ellipse">
            <a:avLst/>
          </a:prstGeom>
          <a:solidFill>
            <a:srgbClr val="244DE8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03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915" name="圆角矩形 914"/>
          <p:cNvSpPr/>
          <p:nvPr/>
        </p:nvSpPr>
        <p:spPr>
          <a:xfrm>
            <a:off x="4352400" y="2048400"/>
            <a:ext cx="1408320" cy="5486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244DE8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提议</a:t>
            </a:r>
            <a:endParaRPr lang="zh-CN" sz="1600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916" name="文本框 915"/>
          <p:cNvSpPr txBox="1"/>
          <p:nvPr/>
        </p:nvSpPr>
        <p:spPr>
          <a:xfrm>
            <a:off x="4316040" y="2715840"/>
            <a:ext cx="148140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5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local / LLM</a:t>
            </a:r>
            <a:endParaRPr lang="en-US" sz="1050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17" name="矩形 916"/>
          <p:cNvSpPr/>
          <p:nvPr/>
        </p:nvSpPr>
        <p:spPr>
          <a:xfrm>
            <a:off x="4535280" y="3127320"/>
            <a:ext cx="1042560" cy="50400"/>
          </a:xfrm>
          <a:prstGeom prst="rect">
            <a:avLst/>
          </a:prstGeom>
          <a:solidFill>
            <a:srgbClr val="EAF0FF"/>
          </a:solidFill>
          <a:ln w="0">
            <a:noFill/>
          </a:ln>
        </p:spPr>
      </p:sp>
      <p:sp>
        <p:nvSpPr>
          <p:cNvPr id="918" name="文本框 917"/>
          <p:cNvSpPr txBox="1"/>
          <p:nvPr/>
        </p:nvSpPr>
        <p:spPr>
          <a:xfrm>
            <a:off x="5815440" y="2130480"/>
            <a:ext cx="311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19" name="椭圆 918"/>
          <p:cNvSpPr/>
          <p:nvPr/>
        </p:nvSpPr>
        <p:spPr>
          <a:xfrm>
            <a:off x="6684120" y="1481400"/>
            <a:ext cx="438840" cy="438840"/>
          </a:xfrm>
          <a:prstGeom prst="ellipse">
            <a:avLst/>
          </a:prstGeom>
          <a:solidFill>
            <a:srgbClr val="159A8C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04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920" name="圆角矩形 919"/>
          <p:cNvSpPr/>
          <p:nvPr/>
        </p:nvSpPr>
        <p:spPr>
          <a:xfrm>
            <a:off x="6199560" y="2048400"/>
            <a:ext cx="1408320" cy="5486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59A8C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提交</a:t>
            </a:r>
            <a:endParaRPr lang="zh-CN" sz="1600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921" name="文本框 920"/>
          <p:cNvSpPr txBox="1"/>
          <p:nvPr/>
        </p:nvSpPr>
        <p:spPr>
          <a:xfrm>
            <a:off x="6163200" y="2715840"/>
            <a:ext cx="148140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5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identity + gen</a:t>
            </a:r>
            <a:endParaRPr lang="en-US" sz="1050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22" name="矩形 921"/>
          <p:cNvSpPr/>
          <p:nvPr/>
        </p:nvSpPr>
        <p:spPr>
          <a:xfrm>
            <a:off x="6382440" y="3127320"/>
            <a:ext cx="1042560" cy="50400"/>
          </a:xfrm>
          <a:prstGeom prst="rect">
            <a:avLst/>
          </a:prstGeom>
          <a:solidFill>
            <a:srgbClr val="E9F8FA"/>
          </a:solidFill>
          <a:ln w="0">
            <a:noFill/>
          </a:ln>
        </p:spPr>
      </p:sp>
      <p:sp>
        <p:nvSpPr>
          <p:cNvPr id="923" name="文本框 922"/>
          <p:cNvSpPr txBox="1"/>
          <p:nvPr/>
        </p:nvSpPr>
        <p:spPr>
          <a:xfrm>
            <a:off x="7662600" y="2130480"/>
            <a:ext cx="311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24" name="椭圆 923"/>
          <p:cNvSpPr/>
          <p:nvPr/>
        </p:nvSpPr>
        <p:spPr>
          <a:xfrm>
            <a:off x="8531280" y="1481400"/>
            <a:ext cx="438840" cy="438840"/>
          </a:xfrm>
          <a:prstGeom prst="ellipse">
            <a:avLst/>
          </a:prstGeom>
          <a:solidFill>
            <a:srgbClr val="159A8C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05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925" name="圆角矩形 924"/>
          <p:cNvSpPr/>
          <p:nvPr/>
        </p:nvSpPr>
        <p:spPr>
          <a:xfrm>
            <a:off x="8046720" y="2048400"/>
            <a:ext cx="1408320" cy="5486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59A8C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调度</a:t>
            </a:r>
            <a:endParaRPr lang="zh-CN" sz="1600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926" name="文本框 925"/>
          <p:cNvSpPr txBox="1"/>
          <p:nvPr/>
        </p:nvSpPr>
        <p:spPr>
          <a:xfrm>
            <a:off x="8010000" y="2715840"/>
            <a:ext cx="148140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5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BPF fast path</a:t>
            </a:r>
            <a:endParaRPr lang="en-US" sz="1050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27" name="矩形 926"/>
          <p:cNvSpPr/>
          <p:nvPr/>
        </p:nvSpPr>
        <p:spPr>
          <a:xfrm>
            <a:off x="8229600" y="3127320"/>
            <a:ext cx="1042560" cy="50400"/>
          </a:xfrm>
          <a:prstGeom prst="rect">
            <a:avLst/>
          </a:prstGeom>
          <a:solidFill>
            <a:srgbClr val="E9F8FA"/>
          </a:solidFill>
          <a:ln w="0">
            <a:noFill/>
          </a:ln>
        </p:spPr>
      </p:sp>
      <p:sp>
        <p:nvSpPr>
          <p:cNvPr id="928" name="文本框 927"/>
          <p:cNvSpPr txBox="1"/>
          <p:nvPr/>
        </p:nvSpPr>
        <p:spPr>
          <a:xfrm>
            <a:off x="9509760" y="2130480"/>
            <a:ext cx="311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29" name="椭圆 928"/>
          <p:cNvSpPr/>
          <p:nvPr/>
        </p:nvSpPr>
        <p:spPr>
          <a:xfrm>
            <a:off x="10378440" y="1481400"/>
            <a:ext cx="438840" cy="438840"/>
          </a:xfrm>
          <a:prstGeom prst="ellipse">
            <a:avLst/>
          </a:prstGeom>
          <a:solidFill>
            <a:srgbClr val="159A8C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06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930" name="圆角矩形 929"/>
          <p:cNvSpPr/>
          <p:nvPr/>
        </p:nvSpPr>
        <p:spPr>
          <a:xfrm>
            <a:off x="9893880" y="2048400"/>
            <a:ext cx="1408320" cy="5486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59A8C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6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反馈</a:t>
            </a:r>
            <a:endParaRPr lang="zh-CN" sz="1600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931" name="文本框 930"/>
          <p:cNvSpPr txBox="1"/>
          <p:nvPr/>
        </p:nvSpPr>
        <p:spPr>
          <a:xfrm>
            <a:off x="9857160" y="2715840"/>
            <a:ext cx="148140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5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behavior window</a:t>
            </a:r>
            <a:endParaRPr lang="en-US" sz="1050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32" name="矩形 931"/>
          <p:cNvSpPr/>
          <p:nvPr/>
        </p:nvSpPr>
        <p:spPr>
          <a:xfrm>
            <a:off x="10076760" y="3127320"/>
            <a:ext cx="1042560" cy="50400"/>
          </a:xfrm>
          <a:prstGeom prst="rect">
            <a:avLst/>
          </a:prstGeom>
          <a:solidFill>
            <a:srgbClr val="E9F8FA"/>
          </a:solidFill>
          <a:ln w="0">
            <a:noFill/>
          </a:ln>
        </p:spPr>
      </p:sp>
      <p:sp>
        <p:nvSpPr>
          <p:cNvPr id="933" name="直接连接符 932"/>
          <p:cNvSpPr/>
          <p:nvPr/>
        </p:nvSpPr>
        <p:spPr>
          <a:xfrm flipH="1">
            <a:off x="1572840" y="3447360"/>
            <a:ext cx="8988480" cy="0"/>
          </a:xfrm>
          <a:prstGeom prst="line">
            <a:avLst/>
          </a:prstGeom>
          <a:ln w="14760">
            <a:solidFill>
              <a:srgbClr val="159A8C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34" name="文本框 933"/>
          <p:cNvSpPr txBox="1"/>
          <p:nvPr/>
        </p:nvSpPr>
        <p:spPr>
          <a:xfrm>
            <a:off x="3904615" y="3141345"/>
            <a:ext cx="422460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59A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good window</a:t>
            </a:r>
            <a:r>
              <a:rPr lang="en-US" sz="120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 </a:t>
            </a:r>
            <a:r>
              <a:rPr lang="zh-CN" sz="120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持续确认后锁定分类</a:t>
            </a:r>
            <a:endParaRPr lang="zh-CN" sz="1200" b="1" strike="noStrike" spc="-1">
              <a:solidFill>
                <a:srgbClr val="159A8C"/>
              </a:solidFill>
              <a:latin typeface="Noto Sans CJK SC"/>
              <a:ea typeface="Noto Sans CJK SC"/>
            </a:endParaRPr>
          </a:p>
        </p:txBody>
      </p:sp>
      <p:sp>
        <p:nvSpPr>
          <p:cNvPr id="935" name="圆角矩形 934"/>
          <p:cNvSpPr/>
          <p:nvPr/>
        </p:nvSpPr>
        <p:spPr>
          <a:xfrm>
            <a:off x="658440" y="3986640"/>
            <a:ext cx="10634400" cy="140832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936" name="文本框 935"/>
          <p:cNvSpPr txBox="1"/>
          <p:nvPr/>
        </p:nvSpPr>
        <p:spPr>
          <a:xfrm>
            <a:off x="932760" y="4279320"/>
            <a:ext cx="106056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19B9D7"/>
                </a:solidFill>
                <a:latin typeface="Noto Sans CJK SC"/>
                <a:ea typeface="Noto Sans CJK SC"/>
              </a:rPr>
              <a:t>失败语义</a:t>
            </a:r>
            <a:endParaRPr lang="zh-CN" sz="1400" b="1" strike="noStrike" spc="-1">
              <a:solidFill>
                <a:srgbClr val="19B9D7"/>
              </a:solidFill>
              <a:latin typeface="Noto Sans CJK SC"/>
              <a:ea typeface="Noto Sans CJK SC"/>
            </a:endParaRPr>
          </a:p>
        </p:txBody>
      </p:sp>
      <p:sp>
        <p:nvSpPr>
          <p:cNvPr id="937" name="文本框 936"/>
          <p:cNvSpPr txBox="1"/>
          <p:nvPr/>
        </p:nvSpPr>
        <p:spPr>
          <a:xfrm>
            <a:off x="1993320" y="4206240"/>
            <a:ext cx="1920240" cy="329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模型超时 </a:t>
            </a:r>
            <a:r>
              <a:rPr lang="en-US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/ JSON</a:t>
            </a:r>
            <a:r>
              <a:rPr lang="en-US" sz="14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 </a:t>
            </a:r>
            <a:r>
              <a:rPr lang="zh-CN" sz="14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非法</a:t>
            </a:r>
            <a:endParaRPr lang="zh-CN" sz="1400" b="1" strike="noStrike" spc="-1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938" name="文本框 937"/>
          <p:cNvSpPr txBox="1"/>
          <p:nvPr/>
        </p:nvSpPr>
        <p:spPr>
          <a:xfrm>
            <a:off x="3904560" y="4206240"/>
            <a:ext cx="38412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19B9D7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39" name="文本框 938"/>
          <p:cNvSpPr txBox="1"/>
          <p:nvPr/>
        </p:nvSpPr>
        <p:spPr>
          <a:xfrm>
            <a:off x="4370760" y="4206240"/>
            <a:ext cx="1481400" cy="329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保留当前类</a:t>
            </a:r>
            <a:endParaRPr lang="zh-CN" sz="1400" b="1" strike="noStrike" spc="-1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940" name="文本框 939"/>
          <p:cNvSpPr txBox="1"/>
          <p:nvPr/>
        </p:nvSpPr>
        <p:spPr>
          <a:xfrm>
            <a:off x="5797440" y="4206240"/>
            <a:ext cx="38412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19B9D7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41" name="文本框 940"/>
          <p:cNvSpPr txBox="1"/>
          <p:nvPr/>
        </p:nvSpPr>
        <p:spPr>
          <a:xfrm>
            <a:off x="6254640" y="4206240"/>
            <a:ext cx="1536120" cy="329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调度不中断</a:t>
            </a:r>
            <a:endParaRPr lang="zh-CN" sz="1400" b="1" strike="noStrike" spc="-1">
              <a:solidFill>
                <a:srgbClr val="FFFFFF"/>
              </a:solidFill>
              <a:latin typeface="Noto Sans CJK SC"/>
              <a:ea typeface="Noto Sans CJK SC"/>
            </a:endParaRPr>
          </a:p>
        </p:txBody>
      </p:sp>
      <p:sp>
        <p:nvSpPr>
          <p:cNvPr id="942" name="文本框 941"/>
          <p:cNvSpPr txBox="1"/>
          <p:nvPr/>
        </p:nvSpPr>
        <p:spPr>
          <a:xfrm>
            <a:off x="1993320" y="4773240"/>
            <a:ext cx="810144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200" b="0" strike="noStrike" spc="-1">
                <a:solidFill>
                  <a:srgbClr val="C9D6F2"/>
                </a:solidFill>
                <a:latin typeface="Noto Sans CJK SC"/>
                <a:ea typeface="Noto Sans CJK SC"/>
              </a:rPr>
              <a:t>控制连接重建后：</a:t>
            </a:r>
            <a:r>
              <a:rPr lang="en-US" sz="1200" b="0" strike="noStrike" spc="-1">
                <a:solidFill>
                  <a:srgbClr val="C9D6F2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lifecycle replay → Registry snapshot</a:t>
            </a:r>
            <a:r>
              <a:rPr lang="en-US" sz="1200" b="0" strike="noStrike" spc="-1">
                <a:solidFill>
                  <a:srgbClr val="C9D6F2"/>
                </a:solidFill>
                <a:latin typeface="Noto Sans CJK SC"/>
                <a:ea typeface="Noto Sans CJK SC"/>
              </a:rPr>
              <a:t> → </a:t>
            </a:r>
            <a:r>
              <a:rPr lang="zh-CN" sz="1200" b="0" strike="noStrike" spc="-1">
                <a:solidFill>
                  <a:srgbClr val="C9D6F2"/>
                </a:solidFill>
                <a:latin typeface="Noto Sans CJK SC"/>
                <a:ea typeface="Noto Sans CJK SC"/>
              </a:rPr>
              <a:t>增量更新</a:t>
            </a:r>
            <a:endParaRPr lang="zh-CN" sz="1200" b="0" strike="noStrike" spc="-1">
              <a:solidFill>
                <a:srgbClr val="C9D6F2"/>
              </a:solidFill>
              <a:latin typeface="Noto Sans CJK SC"/>
              <a:ea typeface="Noto Sans CJK SC"/>
            </a:endParaRPr>
          </a:p>
        </p:txBody>
      </p:sp>
      <p:sp>
        <p:nvSpPr>
          <p:cNvPr id="943" name="圆角矩形 942"/>
          <p:cNvSpPr/>
          <p:nvPr/>
        </p:nvSpPr>
        <p:spPr>
          <a:xfrm>
            <a:off x="8933760" y="4297680"/>
            <a:ext cx="1783080" cy="274320"/>
          </a:xfrm>
          <a:prstGeom prst="roundRect">
            <a:avLst/>
          </a:prstGeom>
          <a:solidFill>
            <a:srgbClr val="213254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B9CC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DEFAULT = BALANCED</a:t>
            </a:r>
            <a:endParaRPr lang="en-US" sz="1000" b="1" strike="noStrike" spc="-1">
              <a:solidFill>
                <a:srgbClr val="B9CC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文本框 943"/>
          <p:cNvSpPr txBox="1"/>
          <p:nvPr/>
        </p:nvSpPr>
        <p:spPr>
          <a:xfrm>
            <a:off x="4956120" y="2331720"/>
            <a:ext cx="3858840" cy="6217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9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项目亮点</a:t>
            </a:r>
            <a:endParaRPr lang="en-US" sz="2900" b="0" strike="noStrike" spc="-1">
              <a:latin typeface="Arial" panose="020B0604020202020204"/>
            </a:endParaRPr>
          </a:p>
        </p:txBody>
      </p:sp>
      <p:sp>
        <p:nvSpPr>
          <p:cNvPr id="945" name="矩形 944"/>
          <p:cNvSpPr/>
          <p:nvPr/>
        </p:nvSpPr>
        <p:spPr>
          <a:xfrm>
            <a:off x="4974480" y="3054240"/>
            <a:ext cx="567000" cy="41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946" name="文本框 945"/>
          <p:cNvSpPr txBox="1"/>
          <p:nvPr/>
        </p:nvSpPr>
        <p:spPr>
          <a:xfrm>
            <a:off x="4956120" y="3246120"/>
            <a:ext cx="4883040" cy="3841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0" strike="noStrike" spc="-1">
                <a:solidFill>
                  <a:srgbClr val="DDEBFF"/>
                </a:solidFill>
                <a:latin typeface="Noto Sans CJK SC"/>
                <a:ea typeface="Noto Sans CJK SC"/>
              </a:rPr>
              <a:t>分类决策有状态，调度数据面有上界</a:t>
            </a:r>
            <a:endParaRPr lang="zh-CN" sz="1400" b="0" strike="noStrike" spc="-1">
              <a:solidFill>
                <a:srgbClr val="DDEBFF"/>
              </a:solidFill>
              <a:latin typeface="Noto Sans CJK SC"/>
              <a:ea typeface="Noto Sans CJK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文本框 946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2.1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948" name="文本框 947"/>
          <p:cNvSpPr txBox="1"/>
          <p:nvPr/>
        </p:nvSpPr>
        <p:spPr>
          <a:xfrm>
            <a:off x="1078920" y="311040"/>
            <a:ext cx="749808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4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分类不是一次猜测，而是一条有状态的证据链</a:t>
            </a:r>
            <a:endParaRPr lang="zh-CN" sz="2400" b="1" strike="noStrike" spc="-1">
              <a:solidFill>
                <a:srgbClr val="17233D"/>
              </a:solidFill>
              <a:latin typeface="Noto Sans CJK SC"/>
              <a:ea typeface="Noto Sans CJK SC"/>
            </a:endParaRPr>
          </a:p>
        </p:txBody>
      </p:sp>
      <p:sp>
        <p:nvSpPr>
          <p:cNvPr id="949" name="矩形 948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950" name="矩形 949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951" name="圆角矩形 950"/>
          <p:cNvSpPr/>
          <p:nvPr/>
        </p:nvSpPr>
        <p:spPr>
          <a:xfrm>
            <a:off x="640080" y="1115640"/>
            <a:ext cx="960120" cy="27432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95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输入证据</a:t>
            </a:r>
            <a:endParaRPr lang="zh-CN" sz="950" b="1" strike="noStrike" spc="-1">
              <a:solidFill>
                <a:srgbClr val="244DE8"/>
              </a:solidFill>
              <a:latin typeface="Noto Sans CJK SC"/>
              <a:ea typeface="Noto Sans CJK SC"/>
            </a:endParaRPr>
          </a:p>
        </p:txBody>
      </p:sp>
      <p:sp>
        <p:nvSpPr>
          <p:cNvPr id="952" name="矩形 951"/>
          <p:cNvSpPr/>
          <p:nvPr/>
        </p:nvSpPr>
        <p:spPr>
          <a:xfrm>
            <a:off x="640080" y="1554480"/>
            <a:ext cx="91440" cy="62172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953" name="圆角矩形 952"/>
          <p:cNvSpPr/>
          <p:nvPr/>
        </p:nvSpPr>
        <p:spPr>
          <a:xfrm>
            <a:off x="749880" y="1554480"/>
            <a:ext cx="1134000" cy="62172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2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显式目标</a:t>
            </a:r>
            <a:endParaRPr lang="zh-CN" sz="1200" b="1" strike="noStrike" spc="-1">
              <a:solidFill>
                <a:srgbClr val="244DE8"/>
              </a:solidFill>
              <a:latin typeface="Noto Sans CJK SC"/>
              <a:ea typeface="Noto Sans CJK SC"/>
            </a:endParaRPr>
          </a:p>
        </p:txBody>
      </p:sp>
      <p:sp>
        <p:nvSpPr>
          <p:cNvPr id="954" name="文本框 953"/>
          <p:cNvSpPr txBox="1"/>
          <p:nvPr/>
        </p:nvSpPr>
        <p:spPr>
          <a:xfrm>
            <a:off x="1993320" y="1664280"/>
            <a:ext cx="2194560" cy="365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8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deadline / SLO / throughput</a:t>
            </a:r>
            <a:endParaRPr lang="en-US" sz="980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55" name="矩形 954"/>
          <p:cNvSpPr/>
          <p:nvPr/>
        </p:nvSpPr>
        <p:spPr>
          <a:xfrm>
            <a:off x="640080" y="2395800"/>
            <a:ext cx="91440" cy="621720"/>
          </a:xfrm>
          <a:prstGeom prst="rect">
            <a:avLst/>
          </a:prstGeom>
          <a:solidFill>
            <a:srgbClr val="6239E7"/>
          </a:solidFill>
          <a:ln w="0">
            <a:noFill/>
          </a:ln>
        </p:spPr>
      </p:sp>
      <p:sp>
        <p:nvSpPr>
          <p:cNvPr id="956" name="圆角矩形 955"/>
          <p:cNvSpPr/>
          <p:nvPr/>
        </p:nvSpPr>
        <p:spPr>
          <a:xfrm>
            <a:off x="749880" y="2395800"/>
            <a:ext cx="1134000" cy="621720"/>
          </a:xfrm>
          <a:prstGeom prst="roundRect">
            <a:avLst/>
          </a:prstGeom>
          <a:solidFill>
            <a:srgbClr val="F1ED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200" b="1" strike="noStrike" spc="-1">
                <a:solidFill>
                  <a:srgbClr val="6239E7"/>
                </a:solidFill>
                <a:latin typeface="Noto Sans CJK SC"/>
                <a:ea typeface="Noto Sans CJK SC"/>
              </a:rPr>
              <a:t>语义元数据</a:t>
            </a:r>
            <a:endParaRPr lang="zh-CN" sz="1200" b="1" strike="noStrike" spc="-1">
              <a:solidFill>
                <a:srgbClr val="6239E7"/>
              </a:solidFill>
              <a:latin typeface="Noto Sans CJK SC"/>
              <a:ea typeface="Noto Sans CJK SC"/>
            </a:endParaRPr>
          </a:p>
        </p:txBody>
      </p:sp>
      <p:sp>
        <p:nvSpPr>
          <p:cNvPr id="957" name="文本框 956"/>
          <p:cNvSpPr txBox="1"/>
          <p:nvPr/>
        </p:nvSpPr>
        <p:spPr>
          <a:xfrm>
            <a:off x="1993320" y="2505600"/>
            <a:ext cx="2194560" cy="365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8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comm · argv · exe · cgroup</a:t>
            </a:r>
            <a:r>
              <a:rPr lang="zh-CN" sz="98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（有界脱敏）</a:t>
            </a:r>
            <a:endParaRPr lang="zh-CN" sz="980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58" name="矩形 957"/>
          <p:cNvSpPr/>
          <p:nvPr/>
        </p:nvSpPr>
        <p:spPr>
          <a:xfrm>
            <a:off x="640080" y="3237120"/>
            <a:ext cx="91440" cy="621720"/>
          </a:xfrm>
          <a:prstGeom prst="rect">
            <a:avLst/>
          </a:prstGeom>
          <a:solidFill>
            <a:srgbClr val="159A8C"/>
          </a:solidFill>
          <a:ln w="0">
            <a:noFill/>
          </a:ln>
        </p:spPr>
      </p:sp>
      <p:sp>
        <p:nvSpPr>
          <p:cNvPr id="959" name="圆角矩形 958"/>
          <p:cNvSpPr/>
          <p:nvPr/>
        </p:nvSpPr>
        <p:spPr>
          <a:xfrm>
            <a:off x="749880" y="3237120"/>
            <a:ext cx="1134000" cy="621720"/>
          </a:xfrm>
          <a:prstGeom prst="roundRect">
            <a:avLst/>
          </a:prstGeom>
          <a:solidFill>
            <a:srgbClr val="E9F8FA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05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行为窗口</a:t>
            </a:r>
            <a:endParaRPr lang="en-US" sz="1050" b="0" strike="noStrike" spc="-1">
              <a:latin typeface="Arial" panose="020B0604020202020204"/>
            </a:endParaRPr>
          </a:p>
        </p:txBody>
      </p:sp>
      <p:sp>
        <p:nvSpPr>
          <p:cNvPr id="960" name="文本框 959"/>
          <p:cNvSpPr txBox="1"/>
          <p:nvPr/>
        </p:nvSpPr>
        <p:spPr>
          <a:xfrm>
            <a:off x="1993320" y="3346560"/>
            <a:ext cx="2194560" cy="365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80" b="0" strike="noStrike" spc="-1">
                <a:solidFill>
                  <a:srgbClr val="6371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runtime · wait · sleep · wakeup · burst</a:t>
            </a:r>
            <a:endParaRPr lang="en-US" sz="980" b="0" strike="noStrike" spc="-1">
              <a:solidFill>
                <a:srgbClr val="6371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61" name="文本框 960"/>
          <p:cNvSpPr txBox="1"/>
          <p:nvPr/>
        </p:nvSpPr>
        <p:spPr>
          <a:xfrm>
            <a:off x="4151520" y="2212920"/>
            <a:ext cx="4388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62" name="圆角矩形 961"/>
          <p:cNvSpPr/>
          <p:nvPr/>
        </p:nvSpPr>
        <p:spPr>
          <a:xfrm>
            <a:off x="4663440" y="1389960"/>
            <a:ext cx="2853000" cy="252360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963" name="文本框 962"/>
          <p:cNvSpPr txBox="1"/>
          <p:nvPr/>
        </p:nvSpPr>
        <p:spPr>
          <a:xfrm>
            <a:off x="4919400" y="1682640"/>
            <a:ext cx="2340720" cy="365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ClassificationRegistry</a:t>
            </a:r>
            <a:endParaRPr lang="en-US" sz="14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64" name="文本框 963"/>
          <p:cNvSpPr txBox="1"/>
          <p:nvPr/>
        </p:nvSpPr>
        <p:spPr>
          <a:xfrm>
            <a:off x="5486400" y="2112120"/>
            <a:ext cx="122544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zh-CN" sz="850" b="1" strike="noStrike" spc="-1">
                <a:solidFill>
                  <a:srgbClr val="19B9D7"/>
                </a:solidFill>
                <a:latin typeface="Noto Sans CJK SC"/>
                <a:ea typeface="Noto Sans CJK SC"/>
              </a:rPr>
              <a:t>唯一 </a:t>
            </a:r>
            <a:r>
              <a:rPr lang="en-US" sz="1200" b="1" strike="noStrike" spc="-1">
                <a:solidFill>
                  <a:srgbClr val="19B9D7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writer</a:t>
            </a:r>
            <a:endParaRPr lang="en-US" sz="1200" b="1" strike="noStrike" spc="-1">
              <a:solidFill>
                <a:srgbClr val="19B9D7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65" name="直接连接符 964"/>
          <p:cNvSpPr/>
          <p:nvPr/>
        </p:nvSpPr>
        <p:spPr>
          <a:xfrm>
            <a:off x="5047560" y="2560320"/>
            <a:ext cx="2066400" cy="0"/>
          </a:xfrm>
          <a:prstGeom prst="line">
            <a:avLst/>
          </a:prstGeom>
          <a:ln w="7200">
            <a:solidFill>
              <a:srgbClr val="40517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66" name="文本框 965"/>
          <p:cNvSpPr txBox="1"/>
          <p:nvPr/>
        </p:nvSpPr>
        <p:spPr>
          <a:xfrm>
            <a:off x="4956120" y="2770560"/>
            <a:ext cx="115200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00" b="0" strike="noStrike" spc="-1">
                <a:solidFill>
                  <a:srgbClr val="C9D6F2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stable identity</a:t>
            </a:r>
            <a:endParaRPr lang="en-US" sz="1000" b="0" strike="noStrike" spc="-1">
              <a:solidFill>
                <a:srgbClr val="C9D6F2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67" name="文本框 966"/>
          <p:cNvSpPr txBox="1"/>
          <p:nvPr/>
        </p:nvSpPr>
        <p:spPr>
          <a:xfrm>
            <a:off x="6089760" y="2770560"/>
            <a:ext cx="113400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en-US" sz="1000" b="0" strike="noStrike" spc="-1">
                <a:solidFill>
                  <a:srgbClr val="C9D6F2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epoch + generation</a:t>
            </a:r>
            <a:endParaRPr lang="en-US" sz="1000" b="0" strike="noStrike" spc="-1">
              <a:solidFill>
                <a:srgbClr val="C9D6F2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68" name="文本框 967"/>
          <p:cNvSpPr txBox="1"/>
          <p:nvPr/>
        </p:nvSpPr>
        <p:spPr>
          <a:xfrm>
            <a:off x="5083920" y="3255120"/>
            <a:ext cx="201168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desired  →  applied</a:t>
            </a:r>
            <a:endParaRPr lang="en-US" sz="12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69" name="文本框 968"/>
          <p:cNvSpPr txBox="1"/>
          <p:nvPr/>
        </p:nvSpPr>
        <p:spPr>
          <a:xfrm>
            <a:off x="7589520" y="2212920"/>
            <a:ext cx="4388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70" name="圆角矩形 969"/>
          <p:cNvSpPr/>
          <p:nvPr/>
        </p:nvSpPr>
        <p:spPr>
          <a:xfrm>
            <a:off x="8138160" y="1115640"/>
            <a:ext cx="960120" cy="274320"/>
          </a:xfrm>
          <a:prstGeom prst="roundRect">
            <a:avLst/>
          </a:prstGeom>
          <a:solidFill>
            <a:srgbClr val="E9F8FA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850" b="1" strike="noStrike" spc="-1">
                <a:solidFill>
                  <a:srgbClr val="159A8C"/>
                </a:solidFill>
                <a:latin typeface="Noto Sans CJK SC"/>
                <a:ea typeface="Noto Sans CJK SC"/>
              </a:rPr>
              <a:t>输出策略</a:t>
            </a:r>
            <a:endParaRPr lang="en-US" sz="850" b="0" strike="noStrike" spc="-1">
              <a:latin typeface="Arial" panose="020B0604020202020204"/>
            </a:endParaRPr>
          </a:p>
        </p:txBody>
      </p:sp>
      <p:sp>
        <p:nvSpPr>
          <p:cNvPr id="971" name="圆角矩形 970"/>
          <p:cNvSpPr/>
          <p:nvPr/>
        </p:nvSpPr>
        <p:spPr>
          <a:xfrm>
            <a:off x="8138160" y="1527120"/>
            <a:ext cx="1325880" cy="585360"/>
          </a:xfrm>
          <a:prstGeom prst="roundRect">
            <a:avLst/>
          </a:prstGeom>
          <a:solidFill>
            <a:srgbClr val="D74B5A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LATENCY</a:t>
            </a:r>
            <a:endParaRPr lang="en-US" sz="10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72" name="圆角矩形 971"/>
          <p:cNvSpPr/>
          <p:nvPr/>
        </p:nvSpPr>
        <p:spPr>
          <a:xfrm>
            <a:off x="9509760" y="1527120"/>
            <a:ext cx="914400" cy="585360"/>
          </a:xfrm>
          <a:prstGeom prst="roundRect">
            <a:avLst/>
          </a:prstGeom>
          <a:solidFill>
            <a:srgbClr val="FCECE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D74B5A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250 μs</a:t>
            </a:r>
            <a:endParaRPr lang="en-US" sz="1200" b="1" strike="noStrike" spc="-1">
              <a:solidFill>
                <a:srgbClr val="D74B5A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73" name="文本框 972"/>
          <p:cNvSpPr txBox="1"/>
          <p:nvPr/>
        </p:nvSpPr>
        <p:spPr>
          <a:xfrm>
            <a:off x="10533960" y="1682640"/>
            <a:ext cx="9511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8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尾延迟优先</a:t>
            </a:r>
            <a:endParaRPr lang="en-US" sz="850" b="0" strike="noStrike" spc="-1">
              <a:latin typeface="Arial" panose="020B0604020202020204"/>
            </a:endParaRPr>
          </a:p>
        </p:txBody>
      </p:sp>
      <p:sp>
        <p:nvSpPr>
          <p:cNvPr id="974" name="圆角矩形 973"/>
          <p:cNvSpPr/>
          <p:nvPr/>
        </p:nvSpPr>
        <p:spPr>
          <a:xfrm>
            <a:off x="8138160" y="2331720"/>
            <a:ext cx="1325880" cy="58536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BALANCED</a:t>
            </a:r>
            <a:endParaRPr lang="en-US" sz="10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75" name="圆角矩形 974"/>
          <p:cNvSpPr/>
          <p:nvPr/>
        </p:nvSpPr>
        <p:spPr>
          <a:xfrm>
            <a:off x="9509760" y="2331720"/>
            <a:ext cx="914400" cy="58536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244DE8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4 ms</a:t>
            </a:r>
            <a:endParaRPr lang="en-US" sz="1200" b="1" strike="noStrike" spc="-1">
              <a:solidFill>
                <a:srgbClr val="244DE8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76" name="文本框 975"/>
          <p:cNvSpPr txBox="1"/>
          <p:nvPr/>
        </p:nvSpPr>
        <p:spPr>
          <a:xfrm>
            <a:off x="10533960" y="2487240"/>
            <a:ext cx="9511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8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通用公平</a:t>
            </a:r>
            <a:endParaRPr lang="en-US" sz="850" b="0" strike="noStrike" spc="-1">
              <a:latin typeface="Arial" panose="020B0604020202020204"/>
            </a:endParaRPr>
          </a:p>
        </p:txBody>
      </p:sp>
      <p:sp>
        <p:nvSpPr>
          <p:cNvPr id="977" name="圆角矩形 976"/>
          <p:cNvSpPr/>
          <p:nvPr/>
        </p:nvSpPr>
        <p:spPr>
          <a:xfrm>
            <a:off x="8138160" y="3136320"/>
            <a:ext cx="1325880" cy="585360"/>
          </a:xfrm>
          <a:prstGeom prst="roundRect">
            <a:avLst/>
          </a:prstGeom>
          <a:solidFill>
            <a:srgbClr val="169B67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THROUGHPUT</a:t>
            </a:r>
            <a:endParaRPr lang="en-US" sz="10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78" name="圆角矩形 977"/>
          <p:cNvSpPr/>
          <p:nvPr/>
        </p:nvSpPr>
        <p:spPr>
          <a:xfrm>
            <a:off x="9509760" y="3136320"/>
            <a:ext cx="914400" cy="585360"/>
          </a:xfrm>
          <a:prstGeom prst="roundRect">
            <a:avLst/>
          </a:prstGeom>
          <a:solidFill>
            <a:srgbClr val="EBF7F1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69B67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8 → 64 ms</a:t>
            </a:r>
            <a:endParaRPr lang="en-US" sz="1200" b="1" strike="noStrike" spc="-1">
              <a:solidFill>
                <a:srgbClr val="169B67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79" name="文本框 978"/>
          <p:cNvSpPr txBox="1"/>
          <p:nvPr/>
        </p:nvSpPr>
        <p:spPr>
          <a:xfrm>
            <a:off x="10533960" y="3291840"/>
            <a:ext cx="9511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85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局部性与吞吐</a:t>
            </a:r>
            <a:endParaRPr lang="en-US" sz="850" b="0" strike="noStrike" spc="-1">
              <a:latin typeface="Arial" panose="020B0604020202020204"/>
            </a:endParaRPr>
          </a:p>
        </p:txBody>
      </p:sp>
      <p:sp>
        <p:nvSpPr>
          <p:cNvPr id="980" name="圆角矩形 979"/>
          <p:cNvSpPr/>
          <p:nvPr/>
        </p:nvSpPr>
        <p:spPr>
          <a:xfrm>
            <a:off x="640080" y="4407480"/>
            <a:ext cx="10844640" cy="12254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</p:sp>
      <p:sp>
        <p:nvSpPr>
          <p:cNvPr id="981" name="文本框 980"/>
          <p:cNvSpPr txBox="1"/>
          <p:nvPr/>
        </p:nvSpPr>
        <p:spPr>
          <a:xfrm>
            <a:off x="896040" y="4645080"/>
            <a:ext cx="100584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950" b="1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状态收敛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982" name="圆角矩形 981"/>
          <p:cNvSpPr/>
          <p:nvPr/>
        </p:nvSpPr>
        <p:spPr>
          <a:xfrm>
            <a:off x="2030040" y="4553640"/>
            <a:ext cx="1298520" cy="47556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244DE8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Inherited</a:t>
            </a:r>
            <a:endParaRPr lang="en-US" sz="1200" b="1" strike="noStrike" spc="-1">
              <a:solidFill>
                <a:srgbClr val="244DE8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83" name="文本框 982"/>
          <p:cNvSpPr txBox="1"/>
          <p:nvPr/>
        </p:nvSpPr>
        <p:spPr>
          <a:xfrm>
            <a:off x="3438000" y="4608720"/>
            <a:ext cx="38412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84" name="圆角矩形 983"/>
          <p:cNvSpPr/>
          <p:nvPr/>
        </p:nvSpPr>
        <p:spPr>
          <a:xfrm>
            <a:off x="3931920" y="4553640"/>
            <a:ext cx="1298520" cy="475560"/>
          </a:xfrm>
          <a:prstGeom prst="roundRect">
            <a:avLst/>
          </a:prstGeom>
          <a:solidFill>
            <a:srgbClr val="E9F8FA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159A8C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Locked</a:t>
            </a:r>
            <a:endParaRPr lang="en-US" sz="1200" b="1" strike="noStrike" spc="-1">
              <a:solidFill>
                <a:srgbClr val="159A8C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85" name="文本框 984"/>
          <p:cNvSpPr txBox="1"/>
          <p:nvPr/>
        </p:nvSpPr>
        <p:spPr>
          <a:xfrm>
            <a:off x="5687640" y="4608720"/>
            <a:ext cx="221292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95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强专用证据冲突 → </a:t>
            </a:r>
            <a:r>
              <a:rPr lang="en-US" sz="95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Balanced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986" name="文本框 985"/>
          <p:cNvSpPr txBox="1"/>
          <p:nvPr/>
        </p:nvSpPr>
        <p:spPr>
          <a:xfrm>
            <a:off x="8275320" y="4608720"/>
            <a:ext cx="278892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zh-CN" sz="1000" b="1" strike="noStrike" spc="-1">
                <a:solidFill>
                  <a:srgbClr val="D74B5A"/>
                </a:solidFill>
                <a:latin typeface="Noto Sans CJK SC"/>
                <a:ea typeface="Noto Sans CJK SC"/>
              </a:rPr>
              <a:t>新任务和失败路径都不等待模型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987" name="文本框 986"/>
          <p:cNvSpPr txBox="1"/>
          <p:nvPr/>
        </p:nvSpPr>
        <p:spPr>
          <a:xfrm>
            <a:off x="2048400" y="5175360"/>
            <a:ext cx="801000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86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Locked </a:t>
            </a:r>
            <a:r>
              <a:rPr lang="zh-CN" sz="86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后停止行为采样，减少 </a:t>
            </a:r>
            <a:r>
              <a:rPr lang="en-US" sz="86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ring buffer </a:t>
            </a:r>
            <a:r>
              <a:rPr lang="zh-CN" sz="86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与用户态开销。</a:t>
            </a:r>
            <a:endParaRPr lang="en-US" sz="86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文本框 987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2.2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989" name="文本框 988"/>
          <p:cNvSpPr txBox="1"/>
          <p:nvPr/>
        </p:nvSpPr>
        <p:spPr>
          <a:xfrm>
            <a:off x="1078920" y="311040"/>
            <a:ext cx="749808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调度策略：两条私有 </a:t>
            </a:r>
            <a:r>
              <a:rPr lang="en-US" sz="2100" b="1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lane</a:t>
            </a:r>
            <a:r>
              <a:rPr lang="zh-CN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，三类任务共享一套公平语义</a:t>
            </a:r>
            <a:endParaRPr lang="en-US" sz="2100" b="0" strike="noStrike" spc="-1">
              <a:latin typeface="Arial" panose="020B0604020202020204"/>
            </a:endParaRPr>
          </a:p>
        </p:txBody>
      </p:sp>
      <p:sp>
        <p:nvSpPr>
          <p:cNvPr id="990" name="矩形 989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991" name="矩形 990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992" name="圆角矩形 991"/>
          <p:cNvSpPr/>
          <p:nvPr/>
        </p:nvSpPr>
        <p:spPr>
          <a:xfrm>
            <a:off x="713160" y="1188720"/>
            <a:ext cx="1874520" cy="493920"/>
          </a:xfrm>
          <a:prstGeom prst="roundRect">
            <a:avLst/>
          </a:prstGeom>
          <a:solidFill>
            <a:srgbClr val="142A5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select_cpu</a:t>
            </a:r>
            <a:endParaRPr lang="en-US" sz="1200" b="0" strike="noStrike" spc="-1">
              <a:latin typeface="Arial" panose="020B0604020202020204"/>
            </a:endParaRPr>
          </a:p>
        </p:txBody>
      </p:sp>
      <p:sp>
        <p:nvSpPr>
          <p:cNvPr id="993" name="文本框 992"/>
          <p:cNvSpPr txBox="1"/>
          <p:nvPr/>
        </p:nvSpPr>
        <p:spPr>
          <a:xfrm>
            <a:off x="2670120" y="1252800"/>
            <a:ext cx="320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94" name="圆角矩形 993"/>
          <p:cNvSpPr/>
          <p:nvPr/>
        </p:nvSpPr>
        <p:spPr>
          <a:xfrm>
            <a:off x="3054240" y="1097280"/>
            <a:ext cx="2304360" cy="67680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enqueue</a:t>
            </a:r>
            <a:endParaRPr lang="en-US" sz="1050" b="0" strike="noStrike" spc="-1">
              <a:latin typeface="Arial" panose="020B0604020202020204"/>
            </a:endParaRPr>
          </a:p>
          <a:p>
            <a:pPr algn="ctr">
              <a:buNone/>
            </a:pPr>
            <a:r>
              <a:rPr lang="en-US" sz="10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weight → virtual deadline</a:t>
            </a:r>
            <a:endParaRPr lang="en-US" sz="1050" b="0" strike="noStrike" spc="-1">
              <a:latin typeface="Arial" panose="020B0604020202020204"/>
            </a:endParaRPr>
          </a:p>
        </p:txBody>
      </p:sp>
      <p:sp>
        <p:nvSpPr>
          <p:cNvPr id="995" name="文本框 994"/>
          <p:cNvSpPr txBox="1"/>
          <p:nvPr/>
        </p:nvSpPr>
        <p:spPr>
          <a:xfrm>
            <a:off x="5459040" y="1252800"/>
            <a:ext cx="3200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996" name="圆角矩形 995"/>
          <p:cNvSpPr/>
          <p:nvPr/>
        </p:nvSpPr>
        <p:spPr>
          <a:xfrm>
            <a:off x="5833800" y="1097280"/>
            <a:ext cx="2560320" cy="676800"/>
          </a:xfrm>
          <a:prstGeom prst="roundRect">
            <a:avLst/>
          </a:prstGeom>
          <a:solidFill>
            <a:srgbClr val="159A8C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dispatch</a:t>
            </a:r>
            <a:endParaRPr lang="en-US" sz="1050" b="0" strike="noStrike" spc="-1">
              <a:latin typeface="Arial" panose="020B0604020202020204"/>
            </a:endParaRPr>
          </a:p>
          <a:p>
            <a:pPr algn="ctr">
              <a:buNone/>
            </a:pPr>
            <a:r>
              <a:rPr lang="en-US" sz="105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budget → lane → shared → steal</a:t>
            </a:r>
            <a:endParaRPr lang="en-US" sz="1050" b="0" strike="noStrike" spc="-1">
              <a:latin typeface="Arial" panose="020B0604020202020204"/>
            </a:endParaRPr>
          </a:p>
        </p:txBody>
      </p:sp>
      <p:sp>
        <p:nvSpPr>
          <p:cNvPr id="997" name="圆角矩形 996"/>
          <p:cNvSpPr/>
          <p:nvPr/>
        </p:nvSpPr>
        <p:spPr>
          <a:xfrm>
            <a:off x="8814960" y="1252800"/>
            <a:ext cx="1993320" cy="274320"/>
          </a:xfrm>
          <a:prstGeom prst="roundRect">
            <a:avLst/>
          </a:prstGeom>
          <a:solidFill>
            <a:srgbClr val="FFF6E2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780" b="1" strike="noStrike" spc="-1">
                <a:solidFill>
                  <a:srgbClr val="D69B2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HOT PATH · STATIC BOUNDS</a:t>
            </a:r>
            <a:endParaRPr lang="en-US" sz="780" b="1" strike="noStrike" spc="-1">
              <a:solidFill>
                <a:srgbClr val="D69B2D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998" name="文本框 997"/>
          <p:cNvSpPr txBox="1"/>
          <p:nvPr/>
        </p:nvSpPr>
        <p:spPr>
          <a:xfrm>
            <a:off x="804600" y="2084760"/>
            <a:ext cx="100584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100" b="1" strike="noStrike" spc="-1">
                <a:solidFill>
                  <a:srgbClr val="142A5F"/>
                </a:solidFill>
                <a:latin typeface="Noto Sans CJK SC"/>
                <a:ea typeface="Noto Sans CJK SC"/>
              </a:rPr>
              <a:t>CPU 0</a:t>
            </a:r>
            <a:endParaRPr lang="en-US" sz="1100" b="0" strike="noStrike" spc="-1">
              <a:latin typeface="Arial" panose="020B0604020202020204"/>
            </a:endParaRPr>
          </a:p>
        </p:txBody>
      </p:sp>
      <p:sp>
        <p:nvSpPr>
          <p:cNvPr id="999" name="圆角矩形 998"/>
          <p:cNvSpPr/>
          <p:nvPr/>
        </p:nvSpPr>
        <p:spPr>
          <a:xfrm>
            <a:off x="731520" y="2468880"/>
            <a:ext cx="3730680" cy="19386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</p:sp>
      <p:sp>
        <p:nvSpPr>
          <p:cNvPr id="1000" name="圆角矩形 999"/>
          <p:cNvSpPr/>
          <p:nvPr/>
        </p:nvSpPr>
        <p:spPr>
          <a:xfrm>
            <a:off x="987480" y="2761560"/>
            <a:ext cx="1398960" cy="438840"/>
          </a:xfrm>
          <a:prstGeom prst="roundRect">
            <a:avLst/>
          </a:prstGeom>
          <a:solidFill>
            <a:srgbClr val="FCECE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D74B5A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latency_dsq(0)</a:t>
            </a:r>
            <a:endParaRPr lang="en-US" sz="950" b="1" strike="noStrike" spc="-1">
              <a:solidFill>
                <a:srgbClr val="D74B5A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01" name="圆角矩形 1000"/>
          <p:cNvSpPr/>
          <p:nvPr/>
        </p:nvSpPr>
        <p:spPr>
          <a:xfrm>
            <a:off x="2541960" y="2761560"/>
            <a:ext cx="1554480" cy="438840"/>
          </a:xfrm>
          <a:prstGeom prst="roundRect">
            <a:avLst/>
          </a:prstGeom>
          <a:solidFill>
            <a:srgbClr val="D74B5A"/>
          </a:solidFill>
          <a:ln w="0">
            <a:noFill/>
          </a:ln>
        </p:spPr>
      </p:sp>
      <p:sp>
        <p:nvSpPr>
          <p:cNvPr id="1002" name="文本框 1001"/>
          <p:cNvSpPr txBox="1"/>
          <p:nvPr/>
        </p:nvSpPr>
        <p:spPr>
          <a:xfrm>
            <a:off x="2606040" y="2862000"/>
            <a:ext cx="1408320" cy="2012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83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Latency · EEVDF</a:t>
            </a:r>
            <a:endParaRPr lang="en-US" sz="830" b="0" strike="noStrike" spc="-1">
              <a:latin typeface="Arial" panose="020B0604020202020204"/>
            </a:endParaRPr>
          </a:p>
        </p:txBody>
      </p:sp>
      <p:sp>
        <p:nvSpPr>
          <p:cNvPr id="1003" name="圆角矩形 1002"/>
          <p:cNvSpPr/>
          <p:nvPr/>
        </p:nvSpPr>
        <p:spPr>
          <a:xfrm>
            <a:off x="987480" y="3401640"/>
            <a:ext cx="1398960" cy="43884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244DE8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task_dsq(0)</a:t>
            </a:r>
            <a:endParaRPr lang="en-US" sz="950" b="1" strike="noStrike" spc="-1">
              <a:solidFill>
                <a:srgbClr val="244DE8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04" name="圆角矩形 1003"/>
          <p:cNvSpPr/>
          <p:nvPr/>
        </p:nvSpPr>
        <p:spPr>
          <a:xfrm>
            <a:off x="2541960" y="3401640"/>
            <a:ext cx="932760" cy="43884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1005" name="圆角矩形 1004"/>
          <p:cNvSpPr/>
          <p:nvPr/>
        </p:nvSpPr>
        <p:spPr>
          <a:xfrm>
            <a:off x="3474720" y="3401640"/>
            <a:ext cx="621720" cy="438840"/>
          </a:xfrm>
          <a:prstGeom prst="roundRect">
            <a:avLst/>
          </a:prstGeom>
          <a:solidFill>
            <a:srgbClr val="169B67"/>
          </a:solidFill>
          <a:ln w="0">
            <a:noFill/>
          </a:ln>
        </p:spPr>
      </p:sp>
      <p:sp>
        <p:nvSpPr>
          <p:cNvPr id="1006" name="文本框 1005"/>
          <p:cNvSpPr txBox="1"/>
          <p:nvPr/>
        </p:nvSpPr>
        <p:spPr>
          <a:xfrm>
            <a:off x="2578680" y="3502080"/>
            <a:ext cx="859680" cy="2012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74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Balanced</a:t>
            </a:r>
            <a:endParaRPr lang="en-US" sz="74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07" name="文本框 1006"/>
          <p:cNvSpPr txBox="1"/>
          <p:nvPr/>
        </p:nvSpPr>
        <p:spPr>
          <a:xfrm>
            <a:off x="3511440" y="3502080"/>
            <a:ext cx="530280" cy="2012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74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TP</a:t>
            </a:r>
            <a:endParaRPr lang="en-US" sz="74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08" name="文本框 1007"/>
          <p:cNvSpPr txBox="1"/>
          <p:nvPr/>
        </p:nvSpPr>
        <p:spPr>
          <a:xfrm>
            <a:off x="4901040" y="2084760"/>
            <a:ext cx="100584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100" b="1" strike="noStrike" spc="-1">
                <a:solidFill>
                  <a:srgbClr val="142A5F"/>
                </a:solidFill>
                <a:latin typeface="Noto Sans CJK SC"/>
                <a:ea typeface="Noto Sans CJK SC"/>
              </a:rPr>
              <a:t>CPU n</a:t>
            </a:r>
            <a:endParaRPr lang="en-US" sz="1100" b="0" strike="noStrike" spc="-1">
              <a:latin typeface="Arial" panose="020B0604020202020204"/>
            </a:endParaRPr>
          </a:p>
        </p:txBody>
      </p:sp>
      <p:sp>
        <p:nvSpPr>
          <p:cNvPr id="1009" name="圆角矩形 1008"/>
          <p:cNvSpPr/>
          <p:nvPr/>
        </p:nvSpPr>
        <p:spPr>
          <a:xfrm>
            <a:off x="4827960" y="2468880"/>
            <a:ext cx="3630240" cy="19386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</p:sp>
      <p:sp>
        <p:nvSpPr>
          <p:cNvPr id="1010" name="圆角矩形 1009"/>
          <p:cNvSpPr/>
          <p:nvPr/>
        </p:nvSpPr>
        <p:spPr>
          <a:xfrm>
            <a:off x="5083920" y="2761560"/>
            <a:ext cx="1444680" cy="438840"/>
          </a:xfrm>
          <a:prstGeom prst="roundRect">
            <a:avLst/>
          </a:prstGeom>
          <a:solidFill>
            <a:srgbClr val="FCECE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D74B5A"/>
                </a:solidFill>
                <a:latin typeface="Noto Sans CJK SC"/>
                <a:ea typeface="Noto Sans CJK SC"/>
              </a:rPr>
              <a:t>latency_dsq(n)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1011" name="圆角矩形 1010"/>
          <p:cNvSpPr/>
          <p:nvPr/>
        </p:nvSpPr>
        <p:spPr>
          <a:xfrm>
            <a:off x="6693480" y="2761560"/>
            <a:ext cx="1380600" cy="438840"/>
          </a:xfrm>
          <a:prstGeom prst="roundRect">
            <a:avLst/>
          </a:prstGeom>
          <a:solidFill>
            <a:srgbClr val="D74B5A"/>
          </a:solidFill>
          <a:ln w="0">
            <a:noFill/>
          </a:ln>
        </p:spPr>
      </p:sp>
      <p:sp>
        <p:nvSpPr>
          <p:cNvPr id="1012" name="圆角矩形 1011"/>
          <p:cNvSpPr/>
          <p:nvPr/>
        </p:nvSpPr>
        <p:spPr>
          <a:xfrm>
            <a:off x="5083920" y="3401640"/>
            <a:ext cx="1444680" cy="43884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task_dsq(n)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1013" name="圆角矩形 1012"/>
          <p:cNvSpPr/>
          <p:nvPr/>
        </p:nvSpPr>
        <p:spPr>
          <a:xfrm>
            <a:off x="6693480" y="3401640"/>
            <a:ext cx="831960" cy="43884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1014" name="圆角矩形 1013"/>
          <p:cNvSpPr/>
          <p:nvPr/>
        </p:nvSpPr>
        <p:spPr>
          <a:xfrm>
            <a:off x="7525440" y="3401640"/>
            <a:ext cx="548640" cy="438840"/>
          </a:xfrm>
          <a:prstGeom prst="roundRect">
            <a:avLst/>
          </a:prstGeom>
          <a:solidFill>
            <a:srgbClr val="169B67"/>
          </a:solidFill>
          <a:ln w="0">
            <a:noFill/>
          </a:ln>
        </p:spPr>
      </p:sp>
      <p:sp>
        <p:nvSpPr>
          <p:cNvPr id="1015" name="圆角矩形 1014"/>
          <p:cNvSpPr/>
          <p:nvPr/>
        </p:nvSpPr>
        <p:spPr>
          <a:xfrm>
            <a:off x="8796600" y="2103120"/>
            <a:ext cx="2487240" cy="230436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1016" name="文本框 1015"/>
          <p:cNvSpPr txBox="1"/>
          <p:nvPr/>
        </p:nvSpPr>
        <p:spPr>
          <a:xfrm>
            <a:off x="9052560" y="2395800"/>
            <a:ext cx="100584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000" b="1" strike="noStrike" spc="-1">
                <a:solidFill>
                  <a:srgbClr val="19B9D7"/>
                </a:solidFill>
                <a:latin typeface="Noto Sans CJK SC"/>
                <a:ea typeface="Noto Sans CJK SC"/>
              </a:rPr>
              <a:t>调度约束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1017" name="文本框 1016"/>
          <p:cNvSpPr txBox="1"/>
          <p:nvPr/>
        </p:nvSpPr>
        <p:spPr>
          <a:xfrm>
            <a:off x="9052560" y="2834640"/>
            <a:ext cx="135324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00" b="0" strike="noStrike" spc="-1">
                <a:solidFill>
                  <a:srgbClr val="C9D6F2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Latency budget</a:t>
            </a:r>
            <a:endParaRPr lang="en-US" sz="900" b="0" strike="noStrike" spc="-1">
              <a:solidFill>
                <a:srgbClr val="C9D6F2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18" name="文本框 1017"/>
          <p:cNvSpPr txBox="1"/>
          <p:nvPr/>
        </p:nvSpPr>
        <p:spPr>
          <a:xfrm>
            <a:off x="10332720" y="2770560"/>
            <a:ext cx="530280" cy="320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en-US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20%</a:t>
            </a:r>
            <a:endParaRPr lang="en-US" sz="14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19" name="文本框 1018"/>
          <p:cNvSpPr txBox="1"/>
          <p:nvPr/>
        </p:nvSpPr>
        <p:spPr>
          <a:xfrm>
            <a:off x="9052560" y="3319200"/>
            <a:ext cx="135324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00" b="0" strike="noStrike" spc="-1">
                <a:solidFill>
                  <a:srgbClr val="C9D6F2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remote steal</a:t>
            </a:r>
            <a:endParaRPr lang="en-US" sz="900" b="0" strike="noStrike" spc="-1">
              <a:solidFill>
                <a:srgbClr val="C9D6F2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20" name="文本框 1019"/>
          <p:cNvSpPr txBox="1"/>
          <p:nvPr/>
        </p:nvSpPr>
        <p:spPr>
          <a:xfrm>
            <a:off x="10021680" y="3255120"/>
            <a:ext cx="841320" cy="320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≤ 8 sources</a:t>
            </a:r>
            <a:endParaRPr lang="en-US" sz="11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1" name="文本框 1020"/>
          <p:cNvSpPr txBox="1"/>
          <p:nvPr/>
        </p:nvSpPr>
        <p:spPr>
          <a:xfrm>
            <a:off x="9052560" y="3794760"/>
            <a:ext cx="144468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900" b="0" strike="noStrike" spc="-1">
                <a:solidFill>
                  <a:srgbClr val="C9D6F2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Throughput epoch</a:t>
            </a:r>
            <a:endParaRPr lang="en-US" sz="900" b="0" strike="noStrike" spc="-1">
              <a:solidFill>
                <a:srgbClr val="C9D6F2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22" name="文本框 1021"/>
          <p:cNvSpPr txBox="1"/>
          <p:nvPr/>
        </p:nvSpPr>
        <p:spPr>
          <a:xfrm>
            <a:off x="10040040" y="3730680"/>
            <a:ext cx="822960" cy="320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en-US" sz="11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8 → 64 ms</a:t>
            </a:r>
            <a:endParaRPr lang="en-US" sz="11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23" name="文本框 1022"/>
          <p:cNvSpPr txBox="1"/>
          <p:nvPr/>
        </p:nvSpPr>
        <p:spPr>
          <a:xfrm>
            <a:off x="804600" y="4782240"/>
            <a:ext cx="100584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950" b="1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共享通道</a:t>
            </a:r>
            <a:endParaRPr lang="en-US" sz="950" b="0" strike="noStrike" spc="-1">
              <a:latin typeface="Arial" panose="020B0604020202020204"/>
            </a:endParaRPr>
          </a:p>
        </p:txBody>
      </p:sp>
      <p:sp>
        <p:nvSpPr>
          <p:cNvPr id="1024" name="圆角矩形 1023"/>
          <p:cNvSpPr/>
          <p:nvPr/>
        </p:nvSpPr>
        <p:spPr>
          <a:xfrm>
            <a:off x="1847160" y="4681800"/>
            <a:ext cx="2231280" cy="475560"/>
          </a:xfrm>
          <a:prstGeom prst="roundRect">
            <a:avLst/>
          </a:prstGeom>
          <a:solidFill>
            <a:srgbClr val="FCECE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D74B5A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per-core shared Latency</a:t>
            </a:r>
            <a:endParaRPr lang="en-US" sz="950" b="1" strike="noStrike" spc="-1">
              <a:solidFill>
                <a:srgbClr val="D74B5A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25" name="圆角矩形 1024"/>
          <p:cNvSpPr/>
          <p:nvPr/>
        </p:nvSpPr>
        <p:spPr>
          <a:xfrm>
            <a:off x="4316040" y="4681800"/>
            <a:ext cx="2670120" cy="47556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244DE8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per-domain Balanced overflow</a:t>
            </a:r>
            <a:endParaRPr lang="en-US" sz="950" b="1" strike="noStrike" spc="-1">
              <a:solidFill>
                <a:srgbClr val="244DE8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26" name="文本框 1025"/>
          <p:cNvSpPr txBox="1"/>
          <p:nvPr/>
        </p:nvSpPr>
        <p:spPr>
          <a:xfrm>
            <a:off x="7333560" y="4782240"/>
            <a:ext cx="343800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zh-CN" sz="950" b="1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异常路径保留 </a:t>
            </a:r>
            <a:r>
              <a:rPr lang="en-US" sz="950" b="1" strike="noStrike" spc="-1">
                <a:solidFill>
                  <a:srgbClr val="17233D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local / GLOBAL fallback</a:t>
            </a:r>
            <a:endParaRPr lang="en-US" sz="95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7" name="圆角矩形 1026"/>
          <p:cNvSpPr/>
          <p:nvPr/>
        </p:nvSpPr>
        <p:spPr>
          <a:xfrm>
            <a:off x="749880" y="5431680"/>
            <a:ext cx="10515600" cy="475560"/>
          </a:xfrm>
          <a:prstGeom prst="roundRect">
            <a:avLst/>
          </a:prstGeom>
          <a:solidFill>
            <a:srgbClr val="E8EDF5"/>
          </a:solidFill>
          <a:ln w="0">
            <a:noFill/>
          </a:ln>
        </p:spPr>
      </p:sp>
      <p:sp>
        <p:nvSpPr>
          <p:cNvPr id="1028" name="文本框 1027"/>
          <p:cNvSpPr txBox="1"/>
          <p:nvPr/>
        </p:nvSpPr>
        <p:spPr>
          <a:xfrm>
            <a:off x="951120" y="5550480"/>
            <a:ext cx="1007676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zh-CN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所有 </a:t>
            </a:r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CPU </a:t>
            </a:r>
            <a:r>
              <a:rPr lang="zh-CN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选择服从 </a:t>
            </a:r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online</a:t>
            </a:r>
            <a:r>
              <a:rPr lang="zh-CN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cpus_ptr </a:t>
            </a:r>
            <a:r>
              <a:rPr lang="zh-CN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 </a:t>
            </a:r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migration </a:t>
            </a:r>
            <a:r>
              <a:rPr lang="zh-CN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状态；</a:t>
            </a:r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Rust </a:t>
            </a:r>
            <a:r>
              <a:rPr lang="zh-CN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不保存 </a:t>
            </a:r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runnable queue</a:t>
            </a:r>
            <a:r>
              <a:rPr lang="zh-CN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，也不发送 </a:t>
            </a:r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dispatch </a:t>
            </a:r>
            <a:r>
              <a:rPr lang="zh-CN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命令。</a:t>
            </a:r>
            <a:endParaRPr lang="zh-CN" sz="12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695380" y="1179830"/>
            <a:ext cx="1874520" cy="493920"/>
          </a:xfrm>
          <a:prstGeom prst="roundRect">
            <a:avLst/>
          </a:prstGeom>
          <a:solidFill>
            <a:srgbClr val="142A5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select_cpu</a:t>
            </a:r>
            <a:endParaRPr lang="en-US" sz="120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036460" y="1088390"/>
            <a:ext cx="2304360" cy="676800"/>
          </a:xfrm>
          <a:prstGeom prst="roundRect">
            <a:avLst/>
          </a:prstGeom>
          <a:solidFill>
            <a:srgbClr val="244DE8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5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enqueue</a:t>
            </a:r>
            <a:endParaRPr lang="en-US" sz="105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105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weight → virtual deadline</a:t>
            </a:r>
            <a:endParaRPr lang="en-US" sz="105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816020" y="1088390"/>
            <a:ext cx="2560320" cy="676800"/>
          </a:xfrm>
          <a:prstGeom prst="roundRect">
            <a:avLst/>
          </a:prstGeom>
          <a:solidFill>
            <a:srgbClr val="159A8C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5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dispatch</a:t>
            </a:r>
            <a:endParaRPr lang="en-US" sz="105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105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budget → lane → shared → steal</a:t>
            </a:r>
            <a:endParaRPr lang="en-US" sz="105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8260" y="2853110"/>
            <a:ext cx="1408320" cy="2012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83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Latency · EEVDF</a:t>
            </a:r>
            <a:endParaRPr lang="en-US" sz="830" b="1" strike="noStrike" spc="-1">
              <a:solidFill>
                <a:srgbClr val="FFFFF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066140" y="2752670"/>
            <a:ext cx="1444680" cy="438840"/>
          </a:xfrm>
          <a:prstGeom prst="roundRect">
            <a:avLst/>
          </a:prstGeom>
          <a:solidFill>
            <a:srgbClr val="FCECE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D74B5A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latency_dsq(n)</a:t>
            </a:r>
            <a:endParaRPr lang="en-US" sz="950" b="1" strike="noStrike" spc="-1">
              <a:solidFill>
                <a:srgbClr val="D74B5A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066140" y="3392750"/>
            <a:ext cx="1444680" cy="43884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244DE8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task_dsq(n)</a:t>
            </a:r>
            <a:endParaRPr lang="en-US" sz="950" b="1" strike="noStrike" spc="-1">
              <a:solidFill>
                <a:srgbClr val="244DE8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文本框 1028"/>
          <p:cNvSpPr txBox="1"/>
          <p:nvPr/>
        </p:nvSpPr>
        <p:spPr>
          <a:xfrm>
            <a:off x="4956120" y="2331720"/>
            <a:ext cx="3858840" cy="6217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9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技术难点</a:t>
            </a:r>
            <a:endParaRPr lang="en-US" sz="2900" b="0" strike="noStrike" spc="-1">
              <a:latin typeface="Arial" panose="020B0604020202020204"/>
            </a:endParaRPr>
          </a:p>
        </p:txBody>
      </p:sp>
      <p:sp>
        <p:nvSpPr>
          <p:cNvPr id="1030" name="矩形 1029"/>
          <p:cNvSpPr/>
          <p:nvPr/>
        </p:nvSpPr>
        <p:spPr>
          <a:xfrm>
            <a:off x="4974480" y="3054240"/>
            <a:ext cx="567000" cy="41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1031" name="文本框 1030"/>
          <p:cNvSpPr txBox="1"/>
          <p:nvPr/>
        </p:nvSpPr>
        <p:spPr>
          <a:xfrm>
            <a:off x="4956120" y="3246120"/>
            <a:ext cx="4883040" cy="3841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150" b="0" strike="noStrike" spc="-1">
                <a:solidFill>
                  <a:srgbClr val="DDEBFF"/>
                </a:solidFill>
                <a:latin typeface="Noto Sans CJK SC"/>
                <a:ea typeface="Noto Sans CJK SC"/>
              </a:rPr>
              <a:t>跨越进程生命期、控制事务与 </a:t>
            </a:r>
            <a:r>
              <a:rPr lang="en-US" sz="1150" b="0" strike="noStrike" spc="-1">
                <a:solidFill>
                  <a:srgbClr val="DDEBFF"/>
                </a:solidFill>
                <a:latin typeface="Noto Sans CJK SC"/>
                <a:ea typeface="Noto Sans CJK SC"/>
              </a:rPr>
              <a:t>CPU </a:t>
            </a:r>
            <a:r>
              <a:rPr lang="zh-CN" sz="1150" b="0" strike="noStrike" spc="-1">
                <a:solidFill>
                  <a:srgbClr val="DDEBFF"/>
                </a:solidFill>
                <a:latin typeface="Noto Sans CJK SC"/>
                <a:ea typeface="Noto Sans CJK SC"/>
              </a:rPr>
              <a:t>拓扑</a:t>
            </a:r>
            <a:endParaRPr lang="en-US" sz="115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文本框 1031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3.1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1033" name="文本框 1032"/>
          <p:cNvSpPr txBox="1"/>
          <p:nvPr/>
        </p:nvSpPr>
        <p:spPr>
          <a:xfrm>
            <a:off x="1078920" y="311040"/>
            <a:ext cx="749808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稳定身份与事务提交：</a:t>
            </a:r>
            <a:r>
              <a:rPr lang="en-US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PID </a:t>
            </a:r>
            <a:r>
              <a:rPr lang="zh-CN" sz="2100" b="1" strike="noStrike" spc="-1">
                <a:solidFill>
                  <a:srgbClr val="17233D"/>
                </a:solidFill>
                <a:latin typeface="Noto Sans CJK SC"/>
                <a:ea typeface="Noto Sans CJK SC"/>
              </a:rPr>
              <a:t>可复用，控制状态不能复用</a:t>
            </a:r>
            <a:endParaRPr lang="en-US" sz="2100" b="0" strike="noStrike" spc="-1">
              <a:latin typeface="Arial" panose="020B0604020202020204"/>
            </a:endParaRPr>
          </a:p>
        </p:txBody>
      </p:sp>
      <p:sp>
        <p:nvSpPr>
          <p:cNvPr id="1034" name="矩形 1033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1035" name="矩形 1034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1036" name="圆角矩形 1035"/>
          <p:cNvSpPr/>
          <p:nvPr/>
        </p:nvSpPr>
        <p:spPr>
          <a:xfrm>
            <a:off x="640080" y="1097280"/>
            <a:ext cx="10863000" cy="78624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1037" name="文本框 1036"/>
          <p:cNvSpPr txBox="1"/>
          <p:nvPr/>
        </p:nvSpPr>
        <p:spPr>
          <a:xfrm>
            <a:off x="896040" y="1344240"/>
            <a:ext cx="1005840" cy="219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9B9D7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ProcessKey</a:t>
            </a:r>
            <a:endParaRPr lang="en-US" sz="1200" b="1" strike="noStrike" spc="-1">
              <a:solidFill>
                <a:srgbClr val="19B9D7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38" name="文本框 1037"/>
          <p:cNvSpPr txBox="1"/>
          <p:nvPr/>
        </p:nvSpPr>
        <p:spPr>
          <a:xfrm>
            <a:off x="1828800" y="1298520"/>
            <a:ext cx="301752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Mono CJK SC"/>
                <a:cs typeface="Arial" panose="020B0604020202020204" pitchFamily="34" charset="0"/>
              </a:rPr>
              <a:t>tgid + process_cookie + exec_generation</a:t>
            </a:r>
            <a:endParaRPr lang="en-US" sz="1400" b="1" strike="noStrike" spc="-1">
              <a:solidFill>
                <a:srgbClr val="FFFFFF"/>
              </a:solidFill>
              <a:latin typeface="Arial" panose="020B0604020202020204" pitchFamily="34" charset="0"/>
              <a:ea typeface="Noto Sans Mono CJK SC"/>
              <a:cs typeface="Arial" panose="020B0604020202020204" pitchFamily="34" charset="0"/>
            </a:endParaRPr>
          </a:p>
        </p:txBody>
      </p:sp>
      <p:sp>
        <p:nvSpPr>
          <p:cNvPr id="1039" name="文本框 1038"/>
          <p:cNvSpPr txBox="1"/>
          <p:nvPr/>
        </p:nvSpPr>
        <p:spPr>
          <a:xfrm>
            <a:off x="5157360" y="1344240"/>
            <a:ext cx="786240" cy="219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9B9D7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TaskKey</a:t>
            </a:r>
            <a:endParaRPr lang="en-US" sz="1200" b="1" strike="noStrike" spc="-1">
              <a:solidFill>
                <a:srgbClr val="19B9D7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40" name="文本框 1039"/>
          <p:cNvSpPr txBox="1"/>
          <p:nvPr/>
        </p:nvSpPr>
        <p:spPr>
          <a:xfrm>
            <a:off x="5925240" y="1298520"/>
            <a:ext cx="170064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Mono CJK SC"/>
                <a:cs typeface="Arial" panose="020B0604020202020204" pitchFamily="34" charset="0"/>
              </a:rPr>
              <a:t>tid + task_cookie</a:t>
            </a:r>
            <a:endParaRPr lang="en-US" sz="1400" b="1" strike="noStrike" spc="-1">
              <a:solidFill>
                <a:srgbClr val="FFFFFF"/>
              </a:solidFill>
              <a:latin typeface="Arial" panose="020B0604020202020204" pitchFamily="34" charset="0"/>
              <a:ea typeface="Noto Sans Mono CJK SC"/>
              <a:cs typeface="Arial" panose="020B0604020202020204" pitchFamily="34" charset="0"/>
            </a:endParaRPr>
          </a:p>
        </p:txBody>
      </p:sp>
      <p:sp>
        <p:nvSpPr>
          <p:cNvPr id="1041" name="文本框 1040"/>
          <p:cNvSpPr txBox="1"/>
          <p:nvPr/>
        </p:nvSpPr>
        <p:spPr>
          <a:xfrm>
            <a:off x="7936920" y="1344240"/>
            <a:ext cx="896040" cy="219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9B9D7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Runnable</a:t>
            </a:r>
            <a:endParaRPr lang="en-US" sz="1200" b="1" strike="noStrike" spc="-1">
              <a:solidFill>
                <a:srgbClr val="19B9D7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42" name="文本框 1041"/>
          <p:cNvSpPr txBox="1"/>
          <p:nvPr/>
        </p:nvSpPr>
        <p:spPr>
          <a:xfrm>
            <a:off x="8732520" y="1298520"/>
            <a:ext cx="237744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Noto Sans Mono CJK SC"/>
                <a:cs typeface="Arial" panose="020B0604020202020204" pitchFamily="34" charset="0"/>
              </a:rPr>
              <a:t>TaskKey + enqueue_sequence</a:t>
            </a:r>
            <a:endParaRPr lang="en-US" sz="1400" b="1" strike="noStrike" spc="-1">
              <a:solidFill>
                <a:srgbClr val="FFFFFF"/>
              </a:solidFill>
              <a:latin typeface="Arial" panose="020B0604020202020204" pitchFamily="34" charset="0"/>
              <a:ea typeface="Noto Sans Mono CJK SC"/>
              <a:cs typeface="Arial" panose="020B0604020202020204" pitchFamily="34" charset="0"/>
            </a:endParaRPr>
          </a:p>
        </p:txBody>
      </p:sp>
      <p:sp>
        <p:nvSpPr>
          <p:cNvPr id="1043" name="椭圆 1042"/>
          <p:cNvSpPr/>
          <p:nvPr/>
        </p:nvSpPr>
        <p:spPr>
          <a:xfrm>
            <a:off x="1426320" y="2286000"/>
            <a:ext cx="438840" cy="438840"/>
          </a:xfrm>
          <a:prstGeom prst="ellipse">
            <a:avLst/>
          </a:prstGeom>
          <a:solidFill>
            <a:srgbClr val="244DE8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1044" name="圆角矩形 1043"/>
          <p:cNvSpPr/>
          <p:nvPr/>
        </p:nvSpPr>
        <p:spPr>
          <a:xfrm>
            <a:off x="713160" y="2871360"/>
            <a:ext cx="1847160" cy="51192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244DE8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2000" b="1" strike="noStrike" spc="-1">
                <a:solidFill>
                  <a:srgbClr val="17233D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Agent request</a:t>
            </a:r>
            <a:endParaRPr lang="en-US" sz="2000" b="1" strike="noStrike" spc="-1">
              <a:solidFill>
                <a:srgbClr val="17233D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45" name="文本框 1044"/>
          <p:cNvSpPr txBox="1"/>
          <p:nvPr/>
        </p:nvSpPr>
        <p:spPr>
          <a:xfrm>
            <a:off x="713160" y="3493080"/>
            <a:ext cx="18471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600" b="0" strike="noStrike" spc="-1">
                <a:solidFill>
                  <a:srgbClr val="63718C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expected gen = n</a:t>
            </a:r>
            <a:endParaRPr lang="en-US" sz="1600" b="0" strike="noStrike" spc="-1">
              <a:solidFill>
                <a:srgbClr val="63718C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46" name="直接连接符 1045"/>
          <p:cNvSpPr/>
          <p:nvPr/>
        </p:nvSpPr>
        <p:spPr>
          <a:xfrm>
            <a:off x="2514600" y="2505600"/>
            <a:ext cx="292680" cy="0"/>
          </a:xfrm>
          <a:prstGeom prst="line">
            <a:avLst/>
          </a:prstGeom>
          <a:ln w="14760">
            <a:solidFill>
              <a:srgbClr val="244DE8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47" name="椭圆 1046"/>
          <p:cNvSpPr/>
          <p:nvPr/>
        </p:nvSpPr>
        <p:spPr>
          <a:xfrm>
            <a:off x="3511440" y="2286000"/>
            <a:ext cx="438840" cy="438840"/>
          </a:xfrm>
          <a:prstGeom prst="ellipse">
            <a:avLst/>
          </a:prstGeom>
          <a:solidFill>
            <a:srgbClr val="244DE8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1048" name="圆角矩形 1047"/>
          <p:cNvSpPr/>
          <p:nvPr/>
        </p:nvSpPr>
        <p:spPr>
          <a:xfrm>
            <a:off x="2797920" y="2871360"/>
            <a:ext cx="1847160" cy="51192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244DE8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2000" b="1" strike="noStrike" spc="-1">
                <a:solidFill>
                  <a:srgbClr val="17233D"/>
                </a:solidFill>
                <a:latin typeface="Arial" panose="020B0604020202020204" pitchFamily="34" charset="0"/>
                <a:ea typeface="黑体" panose="02010609060101010101" charset="-122"/>
              </a:rPr>
              <a:t>核对</a:t>
            </a:r>
            <a:endParaRPr lang="zh-CN" sz="2000" b="1" strike="noStrike" spc="-1">
              <a:solidFill>
                <a:srgbClr val="17233D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49" name="文本框 1048"/>
          <p:cNvSpPr txBox="1"/>
          <p:nvPr/>
        </p:nvSpPr>
        <p:spPr>
          <a:xfrm>
            <a:off x="2797920" y="3493080"/>
            <a:ext cx="18471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600" b="0" strike="noStrike" spc="-1">
                <a:solidFill>
                  <a:srgbClr val="63718C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epoch + identity</a:t>
            </a:r>
            <a:endParaRPr lang="en-US" sz="1600" b="0" strike="noStrike" spc="-1">
              <a:solidFill>
                <a:srgbClr val="63718C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50" name="直接连接符 1049"/>
          <p:cNvSpPr/>
          <p:nvPr/>
        </p:nvSpPr>
        <p:spPr>
          <a:xfrm>
            <a:off x="4599360" y="2505600"/>
            <a:ext cx="292680" cy="0"/>
          </a:xfrm>
          <a:prstGeom prst="line">
            <a:avLst/>
          </a:prstGeom>
          <a:ln w="14760">
            <a:solidFill>
              <a:srgbClr val="244DE8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51" name="椭圆 1050"/>
          <p:cNvSpPr/>
          <p:nvPr/>
        </p:nvSpPr>
        <p:spPr>
          <a:xfrm>
            <a:off x="5605200" y="2286000"/>
            <a:ext cx="438840" cy="438840"/>
          </a:xfrm>
          <a:prstGeom prst="ellipse">
            <a:avLst/>
          </a:prstGeom>
          <a:solidFill>
            <a:srgbClr val="159A8C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1052" name="圆角矩形 1051"/>
          <p:cNvSpPr/>
          <p:nvPr/>
        </p:nvSpPr>
        <p:spPr>
          <a:xfrm>
            <a:off x="4892040" y="2871360"/>
            <a:ext cx="1847160" cy="51192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59A8C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2000" b="1" strike="noStrike" spc="-1">
                <a:solidFill>
                  <a:srgbClr val="17233D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先写 </a:t>
            </a:r>
            <a:r>
              <a:rPr lang="en-US" sz="2000" b="1" strike="noStrike" spc="-1">
                <a:solidFill>
                  <a:srgbClr val="17233D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BPF</a:t>
            </a:r>
            <a:endParaRPr lang="en-US" sz="2000" b="1" strike="noStrike" spc="-1">
              <a:solidFill>
                <a:srgbClr val="17233D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53" name="文本框 1052"/>
          <p:cNvSpPr txBox="1"/>
          <p:nvPr/>
        </p:nvSpPr>
        <p:spPr>
          <a:xfrm>
            <a:off x="4892040" y="3493080"/>
            <a:ext cx="18471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600" b="0" strike="noStrike" spc="-1">
                <a:solidFill>
                  <a:srgbClr val="63718C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task_control</a:t>
            </a:r>
            <a:endParaRPr lang="en-US" sz="1600" b="0" strike="noStrike" spc="-1">
              <a:solidFill>
                <a:srgbClr val="63718C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54" name="直接连接符 1053"/>
          <p:cNvSpPr/>
          <p:nvPr/>
        </p:nvSpPr>
        <p:spPr>
          <a:xfrm>
            <a:off x="6693480" y="2505600"/>
            <a:ext cx="292680" cy="0"/>
          </a:xfrm>
          <a:prstGeom prst="line">
            <a:avLst/>
          </a:prstGeom>
          <a:ln w="14760">
            <a:solidFill>
              <a:srgbClr val="159A8C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55" name="椭圆 1054"/>
          <p:cNvSpPr/>
          <p:nvPr/>
        </p:nvSpPr>
        <p:spPr>
          <a:xfrm>
            <a:off x="7699320" y="2286000"/>
            <a:ext cx="438840" cy="438840"/>
          </a:xfrm>
          <a:prstGeom prst="ellipse">
            <a:avLst/>
          </a:prstGeom>
          <a:solidFill>
            <a:srgbClr val="159A8C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4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1056" name="圆角矩形 1055"/>
          <p:cNvSpPr/>
          <p:nvPr/>
        </p:nvSpPr>
        <p:spPr>
          <a:xfrm>
            <a:off x="6986160" y="2871360"/>
            <a:ext cx="1847160" cy="51192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59A8C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2000" b="1" strike="noStrike" spc="-1">
                <a:solidFill>
                  <a:srgbClr val="17233D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再提交 </a:t>
            </a:r>
            <a:r>
              <a:rPr lang="en-US" sz="2000" b="1" strike="noStrike" spc="-1">
                <a:solidFill>
                  <a:srgbClr val="17233D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cache</a:t>
            </a:r>
            <a:endParaRPr lang="en-US" sz="2000" b="1" strike="noStrike" spc="-1">
              <a:solidFill>
                <a:srgbClr val="17233D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57" name="文本框 1056"/>
          <p:cNvSpPr txBox="1"/>
          <p:nvPr/>
        </p:nvSpPr>
        <p:spPr>
          <a:xfrm>
            <a:off x="6986160" y="3493080"/>
            <a:ext cx="18471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zh-CN" sz="1600" b="0" strike="noStrike" spc="-1">
                <a:solidFill>
                  <a:srgbClr val="63718C"/>
                </a:solidFill>
                <a:latin typeface="Arial" panose="020B0604020202020204" pitchFamily="34" charset="0"/>
                <a:ea typeface="黑体" panose="02010609060101010101" charset="-122"/>
              </a:rPr>
              <a:t>失败即回滚</a:t>
            </a:r>
            <a:endParaRPr lang="zh-CN" sz="1600" b="0" strike="noStrike" spc="-1">
              <a:solidFill>
                <a:srgbClr val="63718C"/>
              </a:solidFill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58" name="直接连接符 1057"/>
          <p:cNvSpPr/>
          <p:nvPr/>
        </p:nvSpPr>
        <p:spPr>
          <a:xfrm>
            <a:off x="8787240" y="2505600"/>
            <a:ext cx="292680" cy="0"/>
          </a:xfrm>
          <a:prstGeom prst="line">
            <a:avLst/>
          </a:prstGeom>
          <a:ln w="14760">
            <a:solidFill>
              <a:srgbClr val="159A8C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59" name="椭圆 1058"/>
          <p:cNvSpPr/>
          <p:nvPr/>
        </p:nvSpPr>
        <p:spPr>
          <a:xfrm>
            <a:off x="9802440" y="2286000"/>
            <a:ext cx="438840" cy="438840"/>
          </a:xfrm>
          <a:prstGeom prst="ellipse">
            <a:avLst/>
          </a:prstGeom>
          <a:solidFill>
            <a:srgbClr val="169B67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5</a:t>
            </a:r>
            <a:endParaRPr lang="en-US" sz="1000" b="0" strike="noStrike" spc="-1">
              <a:latin typeface="Arial" panose="020B0604020202020204"/>
            </a:endParaRPr>
          </a:p>
        </p:txBody>
      </p:sp>
      <p:sp>
        <p:nvSpPr>
          <p:cNvPr id="1060" name="圆角矩形 1059"/>
          <p:cNvSpPr/>
          <p:nvPr/>
        </p:nvSpPr>
        <p:spPr>
          <a:xfrm>
            <a:off x="9089280" y="2871360"/>
            <a:ext cx="1847160" cy="51192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69B67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2000" b="1" strike="noStrike" spc="-1">
                <a:solidFill>
                  <a:srgbClr val="17233D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ACK</a:t>
            </a:r>
            <a:endParaRPr lang="en-US" sz="2000" b="1" strike="noStrike" spc="-1">
              <a:solidFill>
                <a:srgbClr val="17233D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61" name="文本框 1060"/>
          <p:cNvSpPr txBox="1"/>
          <p:nvPr/>
        </p:nvSpPr>
        <p:spPr>
          <a:xfrm>
            <a:off x="9089280" y="3493080"/>
            <a:ext cx="184716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600" b="0" strike="noStrike" spc="-1">
                <a:solidFill>
                  <a:srgbClr val="63718C"/>
                </a:solidFill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applied = n + 1</a:t>
            </a:r>
            <a:endParaRPr lang="en-US" sz="1600" b="0" strike="noStrike" spc="-1">
              <a:solidFill>
                <a:srgbClr val="63718C"/>
              </a:solidFill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062" name="圆角矩形 1061"/>
          <p:cNvSpPr/>
          <p:nvPr/>
        </p:nvSpPr>
        <p:spPr>
          <a:xfrm>
            <a:off x="713160" y="4160520"/>
            <a:ext cx="10222920" cy="115200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</p:sp>
      <p:sp>
        <p:nvSpPr>
          <p:cNvPr id="1063" name="文本框 1062"/>
          <p:cNvSpPr txBox="1"/>
          <p:nvPr/>
        </p:nvSpPr>
        <p:spPr>
          <a:xfrm>
            <a:off x="969120" y="4425840"/>
            <a:ext cx="160920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1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新 </a:t>
            </a:r>
            <a:r>
              <a:rPr lang="en-US" sz="11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scheduler epoch</a:t>
            </a:r>
            <a:endParaRPr lang="en-US" sz="1100" b="0" strike="noStrike" spc="-1">
              <a:latin typeface="Arial" panose="020B0604020202020204"/>
            </a:endParaRPr>
          </a:p>
        </p:txBody>
      </p:sp>
      <p:sp>
        <p:nvSpPr>
          <p:cNvPr id="1064" name="圆角矩形 1063"/>
          <p:cNvSpPr/>
          <p:nvPr/>
        </p:nvSpPr>
        <p:spPr>
          <a:xfrm>
            <a:off x="2770560" y="4370760"/>
            <a:ext cx="1389960" cy="42048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8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Hello</a:t>
            </a:r>
            <a:endParaRPr lang="en-US" sz="98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65" name="文本框 1064"/>
          <p:cNvSpPr txBox="1"/>
          <p:nvPr/>
        </p:nvSpPr>
        <p:spPr>
          <a:xfrm>
            <a:off x="4187880" y="4416480"/>
            <a:ext cx="27432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1066" name="圆角矩形 1065"/>
          <p:cNvSpPr/>
          <p:nvPr/>
        </p:nvSpPr>
        <p:spPr>
          <a:xfrm>
            <a:off x="4407480" y="4370760"/>
            <a:ext cx="1389960" cy="42048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8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lifecycle replay</a:t>
            </a:r>
            <a:endParaRPr lang="en-US" sz="98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67" name="文本框 1066"/>
          <p:cNvSpPr txBox="1"/>
          <p:nvPr/>
        </p:nvSpPr>
        <p:spPr>
          <a:xfrm>
            <a:off x="5824800" y="4416480"/>
            <a:ext cx="27432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1068" name="圆角矩形 1067"/>
          <p:cNvSpPr/>
          <p:nvPr/>
        </p:nvSpPr>
        <p:spPr>
          <a:xfrm>
            <a:off x="6044040" y="4370760"/>
            <a:ext cx="1389960" cy="42048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8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Registry snapshot</a:t>
            </a:r>
            <a:endParaRPr lang="en-US" sz="98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69" name="文本框 1068"/>
          <p:cNvSpPr txBox="1"/>
          <p:nvPr/>
        </p:nvSpPr>
        <p:spPr>
          <a:xfrm>
            <a:off x="7461360" y="4416480"/>
            <a:ext cx="27432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1070" name="圆角矩形 1069"/>
          <p:cNvSpPr/>
          <p:nvPr/>
        </p:nvSpPr>
        <p:spPr>
          <a:xfrm>
            <a:off x="7680960" y="4370760"/>
            <a:ext cx="1389960" cy="42048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8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registry_ready</a:t>
            </a:r>
            <a:endParaRPr lang="en-US" sz="98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71" name="文本框 1070"/>
          <p:cNvSpPr txBox="1"/>
          <p:nvPr/>
        </p:nvSpPr>
        <p:spPr>
          <a:xfrm>
            <a:off x="9098280" y="4416480"/>
            <a:ext cx="27432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1700" b="1" strike="noStrike" spc="-1">
                <a:solidFill>
                  <a:srgbClr val="244DE8"/>
                </a:solidFill>
                <a:latin typeface="Noto Sans CJK SC"/>
                <a:ea typeface="Noto Sans CJK SC"/>
              </a:rPr>
              <a:t>→</a:t>
            </a:r>
            <a:endParaRPr lang="en-US" sz="1700" b="0" strike="noStrike" spc="-1">
              <a:latin typeface="Arial" panose="020B0604020202020204"/>
            </a:endParaRPr>
          </a:p>
        </p:txBody>
      </p:sp>
      <p:sp>
        <p:nvSpPr>
          <p:cNvPr id="1072" name="圆角矩形 1071"/>
          <p:cNvSpPr/>
          <p:nvPr/>
        </p:nvSpPr>
        <p:spPr>
          <a:xfrm>
            <a:off x="9317880" y="4370760"/>
            <a:ext cx="1389960" cy="42048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98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增量 </a:t>
            </a:r>
            <a:r>
              <a:rPr lang="en-US" sz="980" b="1" strike="noStrike" spc="-1">
                <a:solidFill>
                  <a:srgbClr val="142A5F"/>
                </a:solidFill>
                <a:latin typeface="Arial" panose="020B0604020202020204" pitchFamily="34" charset="0"/>
                <a:ea typeface="Noto Sans CJK SC"/>
                <a:cs typeface="Arial" panose="020B0604020202020204" pitchFamily="34" charset="0"/>
              </a:rPr>
              <a:t>action</a:t>
            </a:r>
            <a:endParaRPr lang="en-US" sz="980" b="1" strike="noStrike" spc="-1">
              <a:solidFill>
                <a:srgbClr val="142A5F"/>
              </a:solidFill>
              <a:latin typeface="Arial" panose="020B0604020202020204" pitchFamily="34" charset="0"/>
              <a:ea typeface="Noto Sans CJK SC"/>
              <a:cs typeface="Arial" panose="020B0604020202020204" pitchFamily="34" charset="0"/>
            </a:endParaRPr>
          </a:p>
        </p:txBody>
      </p:sp>
      <p:sp>
        <p:nvSpPr>
          <p:cNvPr id="1073" name="文本框 1072"/>
          <p:cNvSpPr txBox="1"/>
          <p:nvPr/>
        </p:nvSpPr>
        <p:spPr>
          <a:xfrm>
            <a:off x="2779920" y="4883040"/>
            <a:ext cx="727848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88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snapshot </a:t>
            </a:r>
            <a:r>
              <a:rPr lang="zh-CN" sz="88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完成前拒绝增量更新，但 </a:t>
            </a:r>
            <a:r>
              <a:rPr lang="en-US" sz="88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BPF </a:t>
            </a:r>
            <a:r>
              <a:rPr lang="zh-CN" sz="880" b="0" strike="noStrike" spc="-1">
                <a:solidFill>
                  <a:srgbClr val="63718C"/>
                </a:solidFill>
                <a:latin typeface="Noto Sans CJK SC"/>
                <a:ea typeface="Noto Sans CJK SC"/>
              </a:rPr>
              <a:t>继续按默认类运行。</a:t>
            </a:r>
            <a:endParaRPr lang="en-US" sz="880" b="0" strike="noStrike" spc="-1">
              <a:latin typeface="Arial" panose="020B0604020202020204"/>
            </a:endParaRPr>
          </a:p>
        </p:txBody>
      </p:sp>
      <p:sp>
        <p:nvSpPr>
          <p:cNvPr id="1074" name="圆角矩形 1073"/>
          <p:cNvSpPr/>
          <p:nvPr/>
        </p:nvSpPr>
        <p:spPr>
          <a:xfrm>
            <a:off x="8138160" y="5577840"/>
            <a:ext cx="2834640" cy="274320"/>
          </a:xfrm>
          <a:prstGeom prst="roundRect">
            <a:avLst/>
          </a:prstGeom>
          <a:solidFill>
            <a:srgbClr val="FCECE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770" b="1" strike="noStrike" spc="-1">
                <a:solidFill>
                  <a:srgbClr val="D74B5A"/>
                </a:solidFill>
                <a:latin typeface="Noto Sans CJK SC"/>
                <a:ea typeface="Noto Sans CJK SC"/>
              </a:rPr>
              <a:t>PID/TID ALONE IS NEVER AN IDENTITY</a:t>
            </a:r>
            <a:endParaRPr lang="en-US" sz="77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文本框 1074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244DE8"/>
                </a:solidFill>
                <a:latin typeface="黑体" panose="02010609060101010101" charset="-122"/>
                <a:ea typeface="黑体" panose="02010609060101010101" charset="-122"/>
              </a:rPr>
              <a:t>3.2</a:t>
            </a:r>
            <a:endParaRPr lang="en-US" sz="1400" b="1" strike="noStrike" spc="-1">
              <a:solidFill>
                <a:srgbClr val="244DE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76" name="文本框 1075"/>
          <p:cNvSpPr txBox="1"/>
          <p:nvPr/>
        </p:nvSpPr>
        <p:spPr>
          <a:xfrm>
            <a:off x="1343660" y="311150"/>
            <a:ext cx="7654925" cy="438785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8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拓扑策略：用户态计算候选，内核态验证并执行</a:t>
            </a:r>
            <a:endParaRPr lang="zh-CN" sz="28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77" name="矩形 1076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1078" name="矩形 1077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1079" name="圆角矩形 1078"/>
          <p:cNvSpPr/>
          <p:nvPr/>
        </p:nvSpPr>
        <p:spPr>
          <a:xfrm>
            <a:off x="658440" y="1134000"/>
            <a:ext cx="960120" cy="27432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050" b="1" strike="noStrike" spc="-1">
                <a:solidFill>
                  <a:srgbClr val="244DE8"/>
                </a:solidFill>
                <a:latin typeface="黑体" panose="02010609060101010101" charset="-122"/>
                <a:ea typeface="黑体" panose="02010609060101010101" charset="-122"/>
              </a:rPr>
              <a:t>拓扑输入</a:t>
            </a:r>
            <a:endParaRPr lang="zh-CN" sz="1050" b="1" strike="noStrike" spc="-1">
              <a:solidFill>
                <a:srgbClr val="244DE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0" name="椭圆 1079"/>
          <p:cNvSpPr/>
          <p:nvPr/>
        </p:nvSpPr>
        <p:spPr>
          <a:xfrm>
            <a:off x="713160" y="1609200"/>
            <a:ext cx="329040" cy="329040"/>
          </a:xfrm>
          <a:prstGeom prst="ellipse">
            <a:avLst/>
          </a:prstGeom>
          <a:solidFill>
            <a:srgbClr val="356AE6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lang="en-US" sz="10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1" name="文本框 1080"/>
          <p:cNvSpPr txBox="1"/>
          <p:nvPr/>
        </p:nvSpPr>
        <p:spPr>
          <a:xfrm>
            <a:off x="1188720" y="1636920"/>
            <a:ext cx="195696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online CPU</a:t>
            </a:r>
            <a:endParaRPr lang="en-US" sz="12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2" name="椭圆 1081"/>
          <p:cNvSpPr/>
          <p:nvPr/>
        </p:nvSpPr>
        <p:spPr>
          <a:xfrm>
            <a:off x="713160" y="2139840"/>
            <a:ext cx="329040" cy="329040"/>
          </a:xfrm>
          <a:prstGeom prst="ellipse">
            <a:avLst/>
          </a:prstGeom>
          <a:solidFill>
            <a:srgbClr val="356AE6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lang="en-US" sz="10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3" name="文本框 1082"/>
          <p:cNvSpPr txBox="1"/>
          <p:nvPr/>
        </p:nvSpPr>
        <p:spPr>
          <a:xfrm>
            <a:off x="1188720" y="2167200"/>
            <a:ext cx="195696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core / SMT</a:t>
            </a:r>
            <a:endParaRPr lang="en-US" sz="12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4" name="椭圆 1083"/>
          <p:cNvSpPr/>
          <p:nvPr/>
        </p:nvSpPr>
        <p:spPr>
          <a:xfrm>
            <a:off x="713160" y="2670120"/>
            <a:ext cx="329040" cy="329040"/>
          </a:xfrm>
          <a:prstGeom prst="ellipse">
            <a:avLst/>
          </a:prstGeom>
          <a:solidFill>
            <a:srgbClr val="356AE6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lang="en-US" sz="10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5" name="文本框 1084"/>
          <p:cNvSpPr txBox="1"/>
          <p:nvPr/>
        </p:nvSpPr>
        <p:spPr>
          <a:xfrm>
            <a:off x="1188720" y="2697480"/>
            <a:ext cx="195696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LLC / NUMA</a:t>
            </a:r>
            <a:endParaRPr lang="en-US" sz="12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6" name="椭圆 1085"/>
          <p:cNvSpPr/>
          <p:nvPr/>
        </p:nvSpPr>
        <p:spPr>
          <a:xfrm>
            <a:off x="713160" y="3200400"/>
            <a:ext cx="329040" cy="329040"/>
          </a:xfrm>
          <a:prstGeom prst="ellipse">
            <a:avLst/>
          </a:prstGeom>
          <a:solidFill>
            <a:srgbClr val="356AE6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0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4</a:t>
            </a:r>
            <a:endParaRPr lang="en-US" sz="10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7" name="文本框 1086"/>
          <p:cNvSpPr txBox="1"/>
          <p:nvPr/>
        </p:nvSpPr>
        <p:spPr>
          <a:xfrm>
            <a:off x="1188720" y="3227760"/>
            <a:ext cx="195696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capacity / core type</a:t>
            </a:r>
            <a:endParaRPr lang="en-US" sz="12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8" name="文本框 1087"/>
          <p:cNvSpPr txBox="1"/>
          <p:nvPr/>
        </p:nvSpPr>
        <p:spPr>
          <a:xfrm>
            <a:off x="3108960" y="2286000"/>
            <a:ext cx="4388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2000" b="1" strike="noStrike" spc="-1">
                <a:solidFill>
                  <a:srgbClr val="244DE8"/>
                </a:solidFill>
                <a:latin typeface="黑体" panose="02010609060101010101" charset="-122"/>
                <a:ea typeface="黑体" panose="02010609060101010101" charset="-122"/>
              </a:rPr>
              <a:t>→</a:t>
            </a:r>
            <a:endParaRPr lang="en-US" sz="2000" b="1" strike="noStrike" spc="-1">
              <a:solidFill>
                <a:srgbClr val="244DE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9" name="圆角矩形 1088"/>
          <p:cNvSpPr/>
          <p:nvPr/>
        </p:nvSpPr>
        <p:spPr>
          <a:xfrm>
            <a:off x="3620880" y="1353240"/>
            <a:ext cx="2853000" cy="261504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1090" name="文本框 1089"/>
          <p:cNvSpPr txBox="1"/>
          <p:nvPr/>
        </p:nvSpPr>
        <p:spPr>
          <a:xfrm>
            <a:off x="3968640" y="1645920"/>
            <a:ext cx="2139840" cy="3567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PolicyController</a:t>
            </a:r>
            <a:endParaRPr lang="en-US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91" name="文本框 1090"/>
          <p:cNvSpPr txBox="1"/>
          <p:nvPr/>
        </p:nvSpPr>
        <p:spPr>
          <a:xfrm>
            <a:off x="4169520" y="2066400"/>
            <a:ext cx="173736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5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</a:rPr>
              <a:t>feedback + topology</a:t>
            </a:r>
            <a:endParaRPr lang="en-US" sz="1050" b="1" strike="noStrike" spc="-1">
              <a:solidFill>
                <a:srgbClr val="19B9D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92" name="圆角矩形 1091"/>
          <p:cNvSpPr/>
          <p:nvPr/>
        </p:nvSpPr>
        <p:spPr>
          <a:xfrm>
            <a:off x="3950280" y="2597040"/>
            <a:ext cx="2176200" cy="402480"/>
          </a:xfrm>
          <a:prstGeom prst="roundRect">
            <a:avLst/>
          </a:prstGeom>
          <a:solidFill>
            <a:srgbClr val="24304D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50" b="1" strike="noStrike" spc="-1">
                <a:solidFill>
                  <a:srgbClr val="D8E3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 × Latency candidates</a:t>
            </a:r>
            <a:endParaRPr lang="en-US" sz="1050" b="1" strike="noStrike" spc="-1">
              <a:solidFill>
                <a:srgbClr val="D8E3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93" name="圆角矩形 1092"/>
          <p:cNvSpPr/>
          <p:nvPr/>
        </p:nvSpPr>
        <p:spPr>
          <a:xfrm>
            <a:off x="3950280" y="3127320"/>
            <a:ext cx="2176200" cy="402480"/>
          </a:xfrm>
          <a:prstGeom prst="roundRect">
            <a:avLst/>
          </a:prstGeom>
          <a:solidFill>
            <a:srgbClr val="24304D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050" b="1" strike="noStrike" spc="-1">
                <a:solidFill>
                  <a:srgbClr val="D8E3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 × Normal candidates</a:t>
            </a:r>
            <a:endParaRPr lang="en-US" sz="1050" b="1" strike="noStrike" spc="-1">
              <a:solidFill>
                <a:srgbClr val="D8E3F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94" name="文本框 1093"/>
          <p:cNvSpPr txBox="1"/>
          <p:nvPr/>
        </p:nvSpPr>
        <p:spPr>
          <a:xfrm>
            <a:off x="6546960" y="2286000"/>
            <a:ext cx="438840" cy="34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200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→</a:t>
            </a:r>
            <a:endParaRPr lang="en-US" sz="2000" b="1" strike="noStrike" spc="-1">
              <a:solidFill>
                <a:srgbClr val="159A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95" name="圆角矩形 1094"/>
          <p:cNvSpPr/>
          <p:nvPr/>
        </p:nvSpPr>
        <p:spPr>
          <a:xfrm>
            <a:off x="7040880" y="1134000"/>
            <a:ext cx="960120" cy="274320"/>
          </a:xfrm>
          <a:prstGeom prst="roundRect">
            <a:avLst/>
          </a:prstGeom>
          <a:solidFill>
            <a:srgbClr val="E9F8FA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05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双槽发布</a:t>
            </a:r>
            <a:endParaRPr lang="zh-CN" sz="1050" b="1" strike="noStrike" spc="-1">
              <a:solidFill>
                <a:srgbClr val="159A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96" name="圆角矩形 1095"/>
          <p:cNvSpPr/>
          <p:nvPr/>
        </p:nvSpPr>
        <p:spPr>
          <a:xfrm>
            <a:off x="7059295" y="1673225"/>
            <a:ext cx="1512570" cy="786130"/>
          </a:xfrm>
          <a:prstGeom prst="roundRect">
            <a:avLst/>
          </a:prstGeom>
          <a:solidFill>
            <a:srgbClr val="159A8C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4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slot A</a:t>
            </a:r>
            <a:endParaRPr lang="en-US" sz="1400" b="0" strike="noStrike" spc="-1"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buNone/>
            </a:pPr>
            <a:r>
              <a:rPr lang="en-US" sz="14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active · gen n</a:t>
            </a:r>
            <a:endParaRPr lang="en-US" sz="14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97" name="圆角矩形 1096"/>
          <p:cNvSpPr/>
          <p:nvPr/>
        </p:nvSpPr>
        <p:spPr>
          <a:xfrm>
            <a:off x="7059240" y="2706480"/>
            <a:ext cx="1481400" cy="7862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159A8C"/>
            </a:solidFill>
            <a:round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140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slot B</a:t>
            </a:r>
            <a:endParaRPr lang="en-US" sz="1400" b="0" strike="noStrike" spc="-1"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buNone/>
            </a:pPr>
            <a:r>
              <a:rPr lang="en-US" sz="140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inactive · write</a:t>
            </a:r>
            <a:endParaRPr lang="en-US" sz="1400" b="1" strike="noStrike" spc="-1">
              <a:solidFill>
                <a:srgbClr val="159A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98" name="直接连接符 1097"/>
          <p:cNvSpPr/>
          <p:nvPr/>
        </p:nvSpPr>
        <p:spPr>
          <a:xfrm>
            <a:off x="8732520" y="2541960"/>
            <a:ext cx="676800" cy="0"/>
          </a:xfrm>
          <a:prstGeom prst="line">
            <a:avLst/>
          </a:prstGeom>
          <a:ln w="18360">
            <a:solidFill>
              <a:srgbClr val="159A8C"/>
            </a:solidFill>
            <a:round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99" name="文本框 1098"/>
          <p:cNvSpPr txBox="1"/>
          <p:nvPr/>
        </p:nvSpPr>
        <p:spPr>
          <a:xfrm>
            <a:off x="8558640" y="2761560"/>
            <a:ext cx="1051560" cy="4572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2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generation</a:t>
            </a:r>
            <a:endParaRPr lang="en-US" sz="1020" b="0" strike="noStrike" spc="-1"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buNone/>
            </a:pPr>
            <a:r>
              <a:rPr lang="en-US" sz="102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atomic switch</a:t>
            </a:r>
            <a:endParaRPr lang="en-US" sz="1020" b="1" strike="noStrike" spc="-1">
              <a:solidFill>
                <a:srgbClr val="159A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0" name="圆角矩形 1099"/>
          <p:cNvSpPr/>
          <p:nvPr/>
        </p:nvSpPr>
        <p:spPr>
          <a:xfrm>
            <a:off x="9564480" y="1353240"/>
            <a:ext cx="1856160" cy="261504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</p:sp>
      <p:sp>
        <p:nvSpPr>
          <p:cNvPr id="1101" name="文本框 1100"/>
          <p:cNvSpPr txBox="1"/>
          <p:nvPr/>
        </p:nvSpPr>
        <p:spPr>
          <a:xfrm>
            <a:off x="9784080" y="1645920"/>
            <a:ext cx="141732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</a:rPr>
              <a:t>eBPF validates</a:t>
            </a:r>
            <a:endParaRPr lang="en-US" sz="14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2" name="文本框 1101"/>
          <p:cNvSpPr txBox="1"/>
          <p:nvPr/>
        </p:nvSpPr>
        <p:spPr>
          <a:xfrm>
            <a:off x="9838800" y="2139840"/>
            <a:ext cx="1298520" cy="219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generation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3" name="文本框 1102"/>
          <p:cNvSpPr txBox="1"/>
          <p:nvPr/>
        </p:nvSpPr>
        <p:spPr>
          <a:xfrm>
            <a:off x="10296000" y="2450520"/>
            <a:ext cx="38412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60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+</a:t>
            </a:r>
            <a:endParaRPr lang="en-US" sz="1600" b="1" strike="noStrike" spc="-1">
              <a:solidFill>
                <a:srgbClr val="159A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4" name="文本框 1103"/>
          <p:cNvSpPr txBox="1"/>
          <p:nvPr/>
        </p:nvSpPr>
        <p:spPr>
          <a:xfrm>
            <a:off x="9838800" y="2761560"/>
            <a:ext cx="129852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2 s lease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5" name="圆角矩形 1104"/>
          <p:cNvSpPr/>
          <p:nvPr/>
        </p:nvSpPr>
        <p:spPr>
          <a:xfrm>
            <a:off x="9802440" y="3337560"/>
            <a:ext cx="1408320" cy="274320"/>
          </a:xfrm>
          <a:prstGeom prst="roundRect">
            <a:avLst/>
          </a:prstGeom>
          <a:solidFill>
            <a:srgbClr val="FFF6E2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en-US" sz="950" b="1" strike="noStrike" spc="-1">
                <a:solidFill>
                  <a:srgbClr val="D69B2D"/>
                </a:solidFill>
                <a:latin typeface="黑体" panose="02010609060101010101" charset="-122"/>
                <a:ea typeface="黑体" panose="02010609060101010101" charset="-122"/>
              </a:rPr>
              <a:t>fallback = rodata</a:t>
            </a:r>
            <a:endParaRPr lang="en-US" sz="950" b="1" strike="noStrike" spc="-1">
              <a:solidFill>
                <a:srgbClr val="D69B2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6" name="圆角矩形 1105"/>
          <p:cNvSpPr/>
          <p:nvPr/>
        </p:nvSpPr>
        <p:spPr>
          <a:xfrm>
            <a:off x="658440" y="4407480"/>
            <a:ext cx="10771560" cy="113400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</p:sp>
      <p:sp>
        <p:nvSpPr>
          <p:cNvPr id="1107" name="文本框 1106"/>
          <p:cNvSpPr txBox="1"/>
          <p:nvPr/>
        </p:nvSpPr>
        <p:spPr>
          <a:xfrm>
            <a:off x="914400" y="4663440"/>
            <a:ext cx="969120" cy="246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200" b="1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固定上界</a:t>
            </a:r>
            <a:endParaRPr lang="zh-CN" sz="1200" b="1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8" name="文本框 1107"/>
          <p:cNvSpPr txBox="1"/>
          <p:nvPr/>
        </p:nvSpPr>
        <p:spPr>
          <a:xfrm>
            <a:off x="2030040" y="4572000"/>
            <a:ext cx="100584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b="1" strike="noStrike" spc="-1">
                <a:solidFill>
                  <a:srgbClr val="244DE8"/>
                </a:solidFill>
                <a:latin typeface="黑体" panose="02010609060101010101" charset="-122"/>
                <a:ea typeface="黑体" panose="02010609060101010101" charset="-122"/>
              </a:rPr>
              <a:t>500 ms</a:t>
            </a:r>
            <a:endParaRPr lang="en-US" b="1" strike="noStrike" spc="-1">
              <a:solidFill>
                <a:srgbClr val="244DE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09" name="文本框 1108"/>
          <p:cNvSpPr txBox="1"/>
          <p:nvPr/>
        </p:nvSpPr>
        <p:spPr>
          <a:xfrm>
            <a:off x="1847160" y="4992480"/>
            <a:ext cx="137160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policy refresh</a:t>
            </a:r>
            <a:endParaRPr lang="en-US" sz="10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10" name="文本框 1109"/>
          <p:cNvSpPr txBox="1"/>
          <p:nvPr/>
        </p:nvSpPr>
        <p:spPr>
          <a:xfrm>
            <a:off x="4087440" y="4572000"/>
            <a:ext cx="100584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1 s</a:t>
            </a:r>
            <a:endParaRPr lang="en-US" b="1" strike="noStrike" spc="-1">
              <a:solidFill>
                <a:srgbClr val="159A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11" name="文本框 1110"/>
          <p:cNvSpPr txBox="1"/>
          <p:nvPr/>
        </p:nvSpPr>
        <p:spPr>
          <a:xfrm>
            <a:off x="3904560" y="4992480"/>
            <a:ext cx="137160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feedback observation</a:t>
            </a:r>
            <a:endParaRPr lang="en-US" sz="10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12" name="文本框 1111"/>
          <p:cNvSpPr txBox="1"/>
          <p:nvPr/>
        </p:nvSpPr>
        <p:spPr>
          <a:xfrm>
            <a:off x="6144840" y="4572000"/>
            <a:ext cx="100584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b="1" strike="noStrike" spc="-1">
                <a:solidFill>
                  <a:srgbClr val="6239E7"/>
                </a:solidFill>
                <a:latin typeface="黑体" panose="02010609060101010101" charset="-122"/>
                <a:ea typeface="黑体" panose="02010609060101010101" charset="-122"/>
              </a:rPr>
              <a:t>≤ 8</a:t>
            </a:r>
            <a:endParaRPr lang="en-US" b="1" strike="noStrike" spc="-1">
              <a:solidFill>
                <a:srgbClr val="6239E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13" name="文本框 1112"/>
          <p:cNvSpPr txBox="1"/>
          <p:nvPr/>
        </p:nvSpPr>
        <p:spPr>
          <a:xfrm>
            <a:off x="5961960" y="4992480"/>
            <a:ext cx="137160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steal source scan</a:t>
            </a:r>
            <a:endParaRPr lang="en-US" sz="10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14" name="文本框 1113"/>
          <p:cNvSpPr txBox="1"/>
          <p:nvPr/>
        </p:nvSpPr>
        <p:spPr>
          <a:xfrm>
            <a:off x="8202240" y="4572000"/>
            <a:ext cx="100584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b="1" strike="noStrike" spc="-1">
                <a:solidFill>
                  <a:srgbClr val="D74B5A"/>
                </a:solidFill>
                <a:latin typeface="黑体" panose="02010609060101010101" charset="-122"/>
                <a:ea typeface="黑体" panose="02010609060101010101" charset="-122"/>
              </a:rPr>
              <a:t>1 task</a:t>
            </a:r>
            <a:endParaRPr lang="en-US" b="1" strike="noStrike" spc="-1">
              <a:solidFill>
                <a:srgbClr val="D74B5A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15" name="文本框 1114"/>
          <p:cNvSpPr txBox="1"/>
          <p:nvPr/>
        </p:nvSpPr>
        <p:spPr>
          <a:xfrm>
            <a:off x="8019360" y="4992480"/>
            <a:ext cx="137160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0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each remote move</a:t>
            </a:r>
            <a:endParaRPr lang="en-US" sz="10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16" name="文本框 1115"/>
          <p:cNvSpPr txBox="1"/>
          <p:nvPr/>
        </p:nvSpPr>
        <p:spPr>
          <a:xfrm>
            <a:off x="2084760" y="5724000"/>
            <a:ext cx="795528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zh-CN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热路径不读 </a:t>
            </a:r>
            <a:r>
              <a:rPr lang="en-US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sysfs</a:t>
            </a:r>
            <a:r>
              <a:rPr lang="zh-CN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、不访问网络，也不依赖用户态实时响应。</a:t>
            </a:r>
            <a:endParaRPr lang="zh-CN" sz="14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文本框 1116"/>
          <p:cNvSpPr txBox="1"/>
          <p:nvPr/>
        </p:nvSpPr>
        <p:spPr>
          <a:xfrm>
            <a:off x="4956120" y="2331720"/>
            <a:ext cx="3858840" cy="6217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9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实现与验证</a:t>
            </a:r>
            <a:endParaRPr lang="en-US" sz="2900" b="0" strike="noStrike" spc="-1">
              <a:latin typeface="Arial" panose="020B0604020202020204"/>
            </a:endParaRPr>
          </a:p>
        </p:txBody>
      </p:sp>
      <p:sp>
        <p:nvSpPr>
          <p:cNvPr id="1118" name="矩形 1117"/>
          <p:cNvSpPr/>
          <p:nvPr/>
        </p:nvSpPr>
        <p:spPr>
          <a:xfrm>
            <a:off x="4974480" y="3054240"/>
            <a:ext cx="567000" cy="41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1119" name="文本框 1118"/>
          <p:cNvSpPr txBox="1"/>
          <p:nvPr/>
        </p:nvSpPr>
        <p:spPr>
          <a:xfrm>
            <a:off x="4956120" y="3246120"/>
            <a:ext cx="4883040" cy="3841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150" b="0" strike="noStrike" spc="-1">
                <a:solidFill>
                  <a:srgbClr val="DDEBFF"/>
                </a:solidFill>
                <a:latin typeface="Noto Sans CJK SC"/>
                <a:ea typeface="Noto Sans CJK SC"/>
              </a:rPr>
              <a:t>从配置检查到运行观测，主链路可复现</a:t>
            </a:r>
            <a:endParaRPr lang="en-US" sz="115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文本框 1119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600" b="1" strike="noStrike" spc="-1">
                <a:solidFill>
                  <a:srgbClr val="244DE8"/>
                </a:solidFill>
                <a:latin typeface="黑体" panose="02010609060101010101" charset="-122"/>
                <a:ea typeface="黑体" panose="02010609060101010101" charset="-122"/>
              </a:rPr>
              <a:t>4.1</a:t>
            </a:r>
            <a:endParaRPr lang="en-US" sz="1600" b="1" strike="noStrike" spc="-1">
              <a:solidFill>
                <a:srgbClr val="244DE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21" name="文本框 1120"/>
          <p:cNvSpPr txBox="1"/>
          <p:nvPr/>
        </p:nvSpPr>
        <p:spPr>
          <a:xfrm>
            <a:off x="1078865" y="311150"/>
            <a:ext cx="9655175" cy="438785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4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工程实现：一个入口、两层调度、五个只读观测接口</a:t>
            </a:r>
            <a:endParaRPr lang="zh-CN" sz="24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22" name="矩形 1121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1123" name="矩形 1122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1124" name="圆角矩形 1123"/>
          <p:cNvSpPr/>
          <p:nvPr/>
        </p:nvSpPr>
        <p:spPr>
          <a:xfrm>
            <a:off x="640080" y="1078920"/>
            <a:ext cx="10863000" cy="50292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1125" name="文本框 1124"/>
          <p:cNvSpPr txBox="1"/>
          <p:nvPr/>
        </p:nvSpPr>
        <p:spPr>
          <a:xfrm>
            <a:off x="877570" y="1207135"/>
            <a:ext cx="2646045" cy="23749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6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openEuler 24.03-LTS-SP4</a:t>
            </a:r>
            <a:endParaRPr lang="en-US" sz="16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26" name="文本框 1125"/>
          <p:cNvSpPr txBox="1"/>
          <p:nvPr/>
        </p:nvSpPr>
        <p:spPr>
          <a:xfrm>
            <a:off x="3401640" y="1207080"/>
            <a:ext cx="166428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600" b="1" strike="noStrike" spc="-1">
                <a:solidFill>
                  <a:srgbClr val="C9D6F2"/>
                </a:solidFill>
                <a:latin typeface="黑体" panose="02010609060101010101" charset="-122"/>
                <a:ea typeface="黑体" panose="02010609060101010101" charset="-122"/>
              </a:rPr>
              <a:t>Linux 6.6.0-scx</a:t>
            </a:r>
            <a:endParaRPr lang="en-US" sz="1600" b="1" strike="noStrike" spc="-1">
              <a:solidFill>
                <a:srgbClr val="C9D6F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27" name="文本框 1126"/>
          <p:cNvSpPr txBox="1"/>
          <p:nvPr/>
        </p:nvSpPr>
        <p:spPr>
          <a:xfrm>
            <a:off x="5303520" y="1207080"/>
            <a:ext cx="118872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600" b="1" strike="noStrike" spc="-1">
                <a:solidFill>
                  <a:srgbClr val="C9D6F2"/>
                </a:solidFill>
                <a:latin typeface="黑体" panose="02010609060101010101" charset="-122"/>
                <a:ea typeface="黑体" panose="02010609060101010101" charset="-122"/>
              </a:rPr>
              <a:t>Rust 1.96</a:t>
            </a:r>
            <a:endParaRPr lang="en-US" sz="1600" b="1" strike="noStrike" spc="-1">
              <a:solidFill>
                <a:srgbClr val="C9D6F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28" name="文本框 1127"/>
          <p:cNvSpPr txBox="1"/>
          <p:nvPr/>
        </p:nvSpPr>
        <p:spPr>
          <a:xfrm>
            <a:off x="6720840" y="1207135"/>
            <a:ext cx="1769745" cy="23749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600" b="1" strike="noStrike" spc="-1">
                <a:solidFill>
                  <a:srgbClr val="C9D6F2"/>
                </a:solidFill>
                <a:latin typeface="黑体" panose="02010609060101010101" charset="-122"/>
                <a:ea typeface="黑体" panose="02010609060101010101" charset="-122"/>
              </a:rPr>
              <a:t>Clang / LLVM 17</a:t>
            </a:r>
            <a:endParaRPr lang="en-US" sz="1600" b="1" strike="noStrike" spc="-1">
              <a:solidFill>
                <a:srgbClr val="C9D6F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29" name="文本框 1128"/>
          <p:cNvSpPr txBox="1"/>
          <p:nvPr/>
        </p:nvSpPr>
        <p:spPr>
          <a:xfrm>
            <a:off x="8668440" y="1207080"/>
            <a:ext cx="135324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6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</a:rPr>
              <a:t>BPF ABI v35</a:t>
            </a:r>
            <a:endParaRPr lang="en-US" sz="1600" b="1" strike="noStrike" spc="-1">
              <a:solidFill>
                <a:srgbClr val="19B9D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0" name="圆角矩形 1129"/>
          <p:cNvSpPr/>
          <p:nvPr/>
        </p:nvSpPr>
        <p:spPr>
          <a:xfrm>
            <a:off x="658440" y="1847160"/>
            <a:ext cx="960120" cy="274320"/>
          </a:xfrm>
          <a:prstGeom prst="roundRect">
            <a:avLst/>
          </a:prstGeom>
          <a:solidFill>
            <a:srgbClr val="EAF0FF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200" b="1" strike="noStrike" spc="-1">
                <a:solidFill>
                  <a:srgbClr val="244DE8"/>
                </a:solidFill>
                <a:latin typeface="黑体" panose="02010609060101010101" charset="-122"/>
                <a:ea typeface="黑体" panose="02010609060101010101" charset="-122"/>
              </a:rPr>
              <a:t>源码结构</a:t>
            </a:r>
            <a:endParaRPr lang="zh-CN" sz="1200" b="1" strike="noStrike" spc="-1">
              <a:solidFill>
                <a:srgbClr val="244DE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1" name="圆角矩形 1130"/>
          <p:cNvSpPr/>
          <p:nvPr/>
        </p:nvSpPr>
        <p:spPr>
          <a:xfrm>
            <a:off x="658440" y="2249280"/>
            <a:ext cx="3749040" cy="321876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</p:sp>
      <p:sp>
        <p:nvSpPr>
          <p:cNvPr id="1132" name="文本框 1131"/>
          <p:cNvSpPr txBox="1"/>
          <p:nvPr/>
        </p:nvSpPr>
        <p:spPr>
          <a:xfrm>
            <a:off x="932760" y="2487240"/>
            <a:ext cx="315468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244DE8"/>
                </a:solidFill>
                <a:latin typeface="黑体" panose="02010609060101010101" charset="-122"/>
                <a:ea typeface="黑体" panose="02010609060101010101" charset="-122"/>
              </a:rPr>
              <a:t>Adaptive-OS-Agent/</a:t>
            </a:r>
            <a:endParaRPr lang="en-US" sz="1400" b="1" strike="noStrike" spc="-1">
              <a:solidFill>
                <a:srgbClr val="244DE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3" name="文本框 1132"/>
          <p:cNvSpPr txBox="1"/>
          <p:nvPr/>
        </p:nvSpPr>
        <p:spPr>
          <a:xfrm>
            <a:off x="932760" y="2871360"/>
            <a:ext cx="315468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  main · discovery · registry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4" name="文本框 1133"/>
          <p:cNvSpPr txBox="1"/>
          <p:nvPr/>
        </p:nvSpPr>
        <p:spPr>
          <a:xfrm>
            <a:off x="932760" y="3255120"/>
            <a:ext cx="315468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  deepseek · behavior · tools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5" name="文本框 1134"/>
          <p:cNvSpPr txBox="1"/>
          <p:nvPr/>
        </p:nvSpPr>
        <p:spPr>
          <a:xfrm>
            <a:off x="932760" y="3639240"/>
            <a:ext cx="315468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scheduler/rust/</a:t>
            </a:r>
            <a:endParaRPr lang="en-US" sz="1400" b="1" strike="noStrike" spc="-1">
              <a:solidFill>
                <a:srgbClr val="159A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6" name="文本框 1135"/>
          <p:cNvSpPr txBox="1"/>
          <p:nvPr/>
        </p:nvSpPr>
        <p:spPr>
          <a:xfrm>
            <a:off x="932760" y="4023360"/>
            <a:ext cx="315468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  control · topology · policy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7" name="文本框 1136"/>
          <p:cNvSpPr txBox="1"/>
          <p:nvPr/>
        </p:nvSpPr>
        <p:spPr>
          <a:xfrm>
            <a:off x="932760" y="4407480"/>
            <a:ext cx="315468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6239E7"/>
                </a:solidFill>
                <a:latin typeface="黑体" panose="02010609060101010101" charset="-122"/>
                <a:ea typeface="黑体" panose="02010609060101010101" charset="-122"/>
              </a:rPr>
              <a:t>scheduler/rust/bpf/</a:t>
            </a:r>
            <a:endParaRPr lang="en-US" sz="1400" b="1" strike="noStrike" spc="-1">
              <a:solidFill>
                <a:srgbClr val="6239E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8" name="文本框 1137"/>
          <p:cNvSpPr txBox="1"/>
          <p:nvPr/>
        </p:nvSpPr>
        <p:spPr>
          <a:xfrm>
            <a:off x="932760" y="4791600"/>
            <a:ext cx="315468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  select_cpu · enqueue · dispatch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39" name="圆角矩形 1138"/>
          <p:cNvSpPr/>
          <p:nvPr/>
        </p:nvSpPr>
        <p:spPr>
          <a:xfrm>
            <a:off x="4736520" y="1847160"/>
            <a:ext cx="960120" cy="274320"/>
          </a:xfrm>
          <a:prstGeom prst="roundRect">
            <a:avLst/>
          </a:prstGeom>
          <a:solidFill>
            <a:srgbClr val="E9F8FA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200" b="1" strike="noStrike" spc="-1">
                <a:solidFill>
                  <a:srgbClr val="159A8C"/>
                </a:solidFill>
                <a:latin typeface="黑体" panose="02010609060101010101" charset="-122"/>
                <a:ea typeface="黑体" panose="02010609060101010101" charset="-122"/>
              </a:rPr>
              <a:t>启动路径</a:t>
            </a:r>
            <a:endParaRPr lang="zh-CN" sz="1200" b="1" strike="noStrike" spc="-1">
              <a:solidFill>
                <a:srgbClr val="159A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0" name="圆角矩形 1139"/>
          <p:cNvSpPr/>
          <p:nvPr/>
        </p:nvSpPr>
        <p:spPr>
          <a:xfrm>
            <a:off x="4736520" y="2249280"/>
            <a:ext cx="2999160" cy="321876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1141" name="文本框 1140"/>
          <p:cNvSpPr txBox="1"/>
          <p:nvPr/>
        </p:nvSpPr>
        <p:spPr>
          <a:xfrm>
            <a:off x="5010840" y="2541960"/>
            <a:ext cx="235908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F2F6FF"/>
                </a:solidFill>
                <a:latin typeface="黑体" panose="02010609060101010101" charset="-122"/>
                <a:ea typeface="黑体" panose="02010609060101010101" charset="-122"/>
              </a:rPr>
              <a:t>$ adaptive-os-agent \</a:t>
            </a:r>
            <a:endParaRPr lang="en-US" sz="1400" b="1" strike="noStrike" spc="-1">
              <a:solidFill>
                <a:srgbClr val="F2F6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2" name="文本框 1141"/>
          <p:cNvSpPr txBox="1"/>
          <p:nvPr/>
        </p:nvSpPr>
        <p:spPr>
          <a:xfrm>
            <a:off x="5010840" y="2907720"/>
            <a:ext cx="235908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0" strike="noStrike" spc="-1">
                <a:solidFill>
                  <a:srgbClr val="B9CCFF"/>
                </a:solidFill>
                <a:latin typeface="黑体" panose="02010609060101010101" charset="-122"/>
                <a:ea typeface="黑体" panose="02010609060101010101" charset="-122"/>
              </a:rPr>
              <a:t>  --config agent.toml \</a:t>
            </a:r>
            <a:endParaRPr lang="en-US" sz="1400" b="0" strike="noStrike" spc="-1">
              <a:solidFill>
                <a:srgbClr val="B9CC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3" name="文本框 1142"/>
          <p:cNvSpPr txBox="1"/>
          <p:nvPr/>
        </p:nvSpPr>
        <p:spPr>
          <a:xfrm>
            <a:off x="5010840" y="3273480"/>
            <a:ext cx="2432160" cy="4572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0" strike="noStrike" spc="-1">
                <a:solidFill>
                  <a:srgbClr val="B9CCFF"/>
                </a:solidFill>
                <a:latin typeface="黑体" panose="02010609060101010101" charset="-122"/>
                <a:ea typeface="黑体" panose="02010609060101010101" charset="-122"/>
              </a:rPr>
              <a:t>  --scheduler-bin scx_adaptive</a:t>
            </a:r>
            <a:endParaRPr lang="en-US" sz="1400" b="0" strike="noStrike" spc="-1">
              <a:solidFill>
                <a:srgbClr val="B9CC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4" name="直接连接符 1143"/>
          <p:cNvSpPr/>
          <p:nvPr/>
        </p:nvSpPr>
        <p:spPr>
          <a:xfrm>
            <a:off x="5010840" y="3940920"/>
            <a:ext cx="2322720" cy="0"/>
          </a:xfrm>
          <a:prstGeom prst="line">
            <a:avLst/>
          </a:prstGeom>
          <a:ln w="7200">
            <a:solidFill>
              <a:srgbClr val="40517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45" name="文本框 1144"/>
          <p:cNvSpPr txBox="1"/>
          <p:nvPr/>
        </p:nvSpPr>
        <p:spPr>
          <a:xfrm>
            <a:off x="5010840" y="4187880"/>
            <a:ext cx="120708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</a:rPr>
              <a:t>validate config</a:t>
            </a:r>
            <a:endParaRPr lang="en-US" sz="1200" b="1" strike="noStrike" spc="-1">
              <a:solidFill>
                <a:srgbClr val="19B9D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6" name="文本框 1145"/>
          <p:cNvSpPr txBox="1"/>
          <p:nvPr/>
        </p:nvSpPr>
        <p:spPr>
          <a:xfrm>
            <a:off x="5010840" y="4507920"/>
            <a:ext cx="155448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0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→ start scheduler</a:t>
            </a:r>
            <a:endParaRPr lang="en-US" sz="1200" b="0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7" name="文本框 1146"/>
          <p:cNvSpPr txBox="1"/>
          <p:nvPr/>
        </p:nvSpPr>
        <p:spPr>
          <a:xfrm>
            <a:off x="5010840" y="4827960"/>
            <a:ext cx="1700640" cy="228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0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→ attach + snapshot</a:t>
            </a:r>
            <a:endParaRPr lang="en-US" sz="1200" b="0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48" name="圆角矩形 1147"/>
          <p:cNvSpPr/>
          <p:nvPr/>
        </p:nvSpPr>
        <p:spPr>
          <a:xfrm>
            <a:off x="8083440" y="1847160"/>
            <a:ext cx="960120" cy="274320"/>
          </a:xfrm>
          <a:prstGeom prst="roundRect">
            <a:avLst/>
          </a:prstGeom>
          <a:solidFill>
            <a:srgbClr val="FFF6E2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200" b="1" strike="noStrike" spc="-1">
                <a:solidFill>
                  <a:srgbClr val="D69B2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只读 </a:t>
            </a:r>
            <a:r>
              <a:rPr lang="en-US" sz="1200" b="1" strike="noStrike" spc="-1">
                <a:solidFill>
                  <a:srgbClr val="D69B2D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Tool</a:t>
            </a:r>
            <a:endParaRPr lang="en-US" sz="1200" b="1" strike="noStrike" spc="-1">
              <a:solidFill>
                <a:srgbClr val="D69B2D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49" name="圆角矩形 1148"/>
          <p:cNvSpPr/>
          <p:nvPr/>
        </p:nvSpPr>
        <p:spPr>
          <a:xfrm>
            <a:off x="8083440" y="2249280"/>
            <a:ext cx="3420000" cy="3218760"/>
          </a:xfrm>
          <a:prstGeom prst="roundRect">
            <a:avLst/>
          </a:prstGeom>
          <a:solidFill>
            <a:srgbClr val="FFFFFF"/>
          </a:solidFill>
          <a:ln w="10800">
            <a:solidFill>
              <a:srgbClr val="D7E0ED"/>
            </a:solidFill>
            <a:round/>
          </a:ln>
        </p:spPr>
      </p:sp>
      <p:sp>
        <p:nvSpPr>
          <p:cNvPr id="1150" name="文本框 1149"/>
          <p:cNvSpPr txBox="1"/>
          <p:nvPr/>
        </p:nvSpPr>
        <p:spPr>
          <a:xfrm>
            <a:off x="8357760" y="2505600"/>
            <a:ext cx="166428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</a:rPr>
              <a:t>workload.list</a:t>
            </a:r>
            <a:endParaRPr lang="en-US" sz="12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51" name="文本框 1150"/>
          <p:cNvSpPr txBox="1"/>
          <p:nvPr/>
        </p:nvSpPr>
        <p:spPr>
          <a:xfrm>
            <a:off x="10003680" y="2505600"/>
            <a:ext cx="118872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进程 </a:t>
            </a: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 </a:t>
            </a:r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线程清单</a:t>
            </a:r>
            <a:endParaRPr lang="zh-CN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52" name="直接连接符 1151"/>
          <p:cNvSpPr/>
          <p:nvPr/>
        </p:nvSpPr>
        <p:spPr>
          <a:xfrm>
            <a:off x="8357760" y="2834640"/>
            <a:ext cx="2834640" cy="0"/>
          </a:xfrm>
          <a:prstGeom prst="line">
            <a:avLst/>
          </a:prstGeom>
          <a:ln w="54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53" name="文本框 1152"/>
          <p:cNvSpPr txBox="1"/>
          <p:nvPr/>
        </p:nvSpPr>
        <p:spPr>
          <a:xfrm>
            <a:off x="8357760" y="3035880"/>
            <a:ext cx="166428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</a:rPr>
              <a:t>workload.get</a:t>
            </a:r>
            <a:endParaRPr lang="en-US" sz="12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54" name="文本框 1153"/>
          <p:cNvSpPr txBox="1"/>
          <p:nvPr/>
        </p:nvSpPr>
        <p:spPr>
          <a:xfrm>
            <a:off x="10003680" y="3035880"/>
            <a:ext cx="118872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有界元数据</a:t>
            </a:r>
            <a:endParaRPr lang="zh-CN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55" name="直接连接符 1154"/>
          <p:cNvSpPr/>
          <p:nvPr/>
        </p:nvSpPr>
        <p:spPr>
          <a:xfrm>
            <a:off x="8357760" y="3364920"/>
            <a:ext cx="2834640" cy="0"/>
          </a:xfrm>
          <a:prstGeom prst="line">
            <a:avLst/>
          </a:prstGeom>
          <a:ln w="54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56" name="文本框 1155"/>
          <p:cNvSpPr txBox="1"/>
          <p:nvPr/>
        </p:nvSpPr>
        <p:spPr>
          <a:xfrm>
            <a:off x="8357760" y="3566160"/>
            <a:ext cx="166428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</a:rPr>
              <a:t>classification.get</a:t>
            </a:r>
            <a:endParaRPr lang="en-US" sz="12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57" name="文本框 1156"/>
          <p:cNvSpPr txBox="1"/>
          <p:nvPr/>
        </p:nvSpPr>
        <p:spPr>
          <a:xfrm>
            <a:off x="10003680" y="3566160"/>
            <a:ext cx="118872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class / stage / generation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58" name="直接连接符 1157"/>
          <p:cNvSpPr/>
          <p:nvPr/>
        </p:nvSpPr>
        <p:spPr>
          <a:xfrm>
            <a:off x="8357760" y="3895200"/>
            <a:ext cx="2834640" cy="0"/>
          </a:xfrm>
          <a:prstGeom prst="line">
            <a:avLst/>
          </a:prstGeom>
          <a:ln w="54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59" name="文本框 1158"/>
          <p:cNvSpPr txBox="1"/>
          <p:nvPr/>
        </p:nvSpPr>
        <p:spPr>
          <a:xfrm>
            <a:off x="8357760" y="4096440"/>
            <a:ext cx="166428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</a:rPr>
              <a:t>scheduler.health</a:t>
            </a:r>
            <a:endParaRPr lang="en-US" sz="12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60" name="文本框 1159"/>
          <p:cNvSpPr txBox="1"/>
          <p:nvPr/>
        </p:nvSpPr>
        <p:spPr>
          <a:xfrm>
            <a:off x="10003680" y="4096440"/>
            <a:ext cx="118872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epoch / ready / degraded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61" name="直接连接符 1160"/>
          <p:cNvSpPr/>
          <p:nvPr/>
        </p:nvSpPr>
        <p:spPr>
          <a:xfrm>
            <a:off x="8357760" y="4425840"/>
            <a:ext cx="2834640" cy="0"/>
          </a:xfrm>
          <a:prstGeom prst="line">
            <a:avLst/>
          </a:prstGeom>
          <a:ln w="54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62" name="文本框 1161"/>
          <p:cNvSpPr txBox="1"/>
          <p:nvPr/>
        </p:nvSpPr>
        <p:spPr>
          <a:xfrm>
            <a:off x="8357760" y="4626720"/>
            <a:ext cx="166428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</a:rPr>
              <a:t>scheduler.stats</a:t>
            </a:r>
            <a:endParaRPr lang="en-US" sz="12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63" name="文本框 1162"/>
          <p:cNvSpPr txBox="1"/>
          <p:nvPr/>
        </p:nvSpPr>
        <p:spPr>
          <a:xfrm>
            <a:off x="10003680" y="4626720"/>
            <a:ext cx="1188720" cy="23760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r">
              <a:buNone/>
            </a:pP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policy / BPF counters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64" name="直接连接符 1163"/>
          <p:cNvSpPr/>
          <p:nvPr/>
        </p:nvSpPr>
        <p:spPr>
          <a:xfrm>
            <a:off x="8357760" y="4956120"/>
            <a:ext cx="2834640" cy="0"/>
          </a:xfrm>
          <a:prstGeom prst="line">
            <a:avLst/>
          </a:prstGeom>
          <a:ln w="54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65" name="文本框 1164"/>
          <p:cNvSpPr txBox="1"/>
          <p:nvPr/>
        </p:nvSpPr>
        <p:spPr>
          <a:xfrm>
            <a:off x="841320" y="5706000"/>
            <a:ext cx="1024128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en-US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Tool </a:t>
            </a:r>
            <a:r>
              <a:rPr lang="zh-CN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只读取，不修改 </a:t>
            </a:r>
            <a:r>
              <a:rPr lang="en-US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Registry</a:t>
            </a:r>
            <a:r>
              <a:rPr lang="zh-CN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、不调用模型、不下发调度控制。</a:t>
            </a:r>
            <a:endParaRPr lang="zh-CN" sz="14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文本框 1165"/>
          <p:cNvSpPr txBox="1"/>
          <p:nvPr/>
        </p:nvSpPr>
        <p:spPr>
          <a:xfrm>
            <a:off x="4956120" y="2331720"/>
            <a:ext cx="3858840" cy="6217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900" b="1" strike="noStrike" spc="-1">
                <a:solidFill>
                  <a:srgbClr val="FFFFFF"/>
                </a:solidFill>
                <a:latin typeface="Noto Sans CJK SC"/>
                <a:ea typeface="Noto Sans CJK SC"/>
              </a:rPr>
              <a:t>作品演示</a:t>
            </a:r>
            <a:endParaRPr lang="en-US" sz="2900" b="0" strike="noStrike" spc="-1">
              <a:latin typeface="Arial" panose="020B0604020202020204"/>
            </a:endParaRPr>
          </a:p>
        </p:txBody>
      </p:sp>
      <p:sp>
        <p:nvSpPr>
          <p:cNvPr id="1167" name="矩形 1166"/>
          <p:cNvSpPr/>
          <p:nvPr/>
        </p:nvSpPr>
        <p:spPr>
          <a:xfrm>
            <a:off x="4974480" y="3054240"/>
            <a:ext cx="567000" cy="41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1168" name="文本框 1167"/>
          <p:cNvSpPr txBox="1"/>
          <p:nvPr/>
        </p:nvSpPr>
        <p:spPr>
          <a:xfrm>
            <a:off x="4956120" y="3246120"/>
            <a:ext cx="4883040" cy="3841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150" b="0" strike="noStrike" spc="-1">
                <a:solidFill>
                  <a:srgbClr val="DDEBFF"/>
                </a:solidFill>
                <a:latin typeface="Noto Sans CJK SC"/>
                <a:ea typeface="Noto Sans CJK SC"/>
              </a:rPr>
              <a:t>一次连续运行，展示完整闭环</a:t>
            </a:r>
            <a:endParaRPr lang="en-US" sz="1150" b="0" strike="noStrike" spc="-1"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文本框 1168"/>
          <p:cNvSpPr txBox="1"/>
          <p:nvPr/>
        </p:nvSpPr>
        <p:spPr>
          <a:xfrm>
            <a:off x="567000" y="384120"/>
            <a:ext cx="567000" cy="2926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400" b="1" strike="noStrike" spc="-1">
                <a:solidFill>
                  <a:srgbClr val="244DE8"/>
                </a:solidFill>
                <a:latin typeface="黑体" panose="02010609060101010101" charset="-122"/>
                <a:ea typeface="黑体" panose="02010609060101010101" charset="-122"/>
              </a:rPr>
              <a:t>5.1</a:t>
            </a:r>
            <a:endParaRPr lang="en-US" sz="1400" b="1" strike="noStrike" spc="-1">
              <a:solidFill>
                <a:srgbClr val="244DE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70" name="文本框 1169"/>
          <p:cNvSpPr txBox="1"/>
          <p:nvPr/>
        </p:nvSpPr>
        <p:spPr>
          <a:xfrm>
            <a:off x="1078920" y="311040"/>
            <a:ext cx="749808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28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现场演示：分类如何落到调度状态</a:t>
            </a:r>
            <a:endParaRPr lang="zh-CN" sz="28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71" name="矩形 1170"/>
          <p:cNvSpPr/>
          <p:nvPr/>
        </p:nvSpPr>
        <p:spPr>
          <a:xfrm>
            <a:off x="585360" y="804600"/>
            <a:ext cx="137160" cy="32040"/>
          </a:xfrm>
          <a:prstGeom prst="rect">
            <a:avLst/>
          </a:prstGeom>
          <a:solidFill>
            <a:srgbClr val="244DE8"/>
          </a:solidFill>
          <a:ln w="0">
            <a:noFill/>
          </a:ln>
        </p:spPr>
      </p:sp>
      <p:sp>
        <p:nvSpPr>
          <p:cNvPr id="1172" name="矩形 1171"/>
          <p:cNvSpPr/>
          <p:nvPr/>
        </p:nvSpPr>
        <p:spPr>
          <a:xfrm>
            <a:off x="768240" y="804600"/>
            <a:ext cx="73080" cy="32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1173" name="椭圆 1172"/>
          <p:cNvSpPr/>
          <p:nvPr/>
        </p:nvSpPr>
        <p:spPr>
          <a:xfrm>
            <a:off x="713160" y="1280160"/>
            <a:ext cx="475560" cy="475560"/>
          </a:xfrm>
          <a:prstGeom prst="ellipse">
            <a:avLst/>
          </a:prstGeom>
          <a:solidFill>
            <a:srgbClr val="244DE8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lang="en-US" sz="12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74" name="文本框 1173"/>
          <p:cNvSpPr txBox="1"/>
          <p:nvPr/>
        </p:nvSpPr>
        <p:spPr>
          <a:xfrm>
            <a:off x="1371600" y="1271160"/>
            <a:ext cx="96912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6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启动</a:t>
            </a:r>
            <a:endParaRPr lang="zh-CN" sz="16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75" name="文本框 1174"/>
          <p:cNvSpPr txBox="1"/>
          <p:nvPr/>
        </p:nvSpPr>
        <p:spPr>
          <a:xfrm>
            <a:off x="2340720" y="1280160"/>
            <a:ext cx="301752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Agent </a:t>
            </a:r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拉起 </a:t>
            </a: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scheduler</a:t>
            </a:r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，确认 </a:t>
            </a: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sched_ext attach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76" name="直接连接符 1175"/>
          <p:cNvSpPr/>
          <p:nvPr/>
        </p:nvSpPr>
        <p:spPr>
          <a:xfrm>
            <a:off x="941760" y="1783080"/>
            <a:ext cx="0" cy="502920"/>
          </a:xfrm>
          <a:prstGeom prst="line">
            <a:avLst/>
          </a:prstGeom>
          <a:ln w="108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77" name="椭圆 1176"/>
          <p:cNvSpPr/>
          <p:nvPr/>
        </p:nvSpPr>
        <p:spPr>
          <a:xfrm>
            <a:off x="713160" y="2322720"/>
            <a:ext cx="475560" cy="475560"/>
          </a:xfrm>
          <a:prstGeom prst="ellipse">
            <a:avLst/>
          </a:prstGeom>
          <a:solidFill>
            <a:srgbClr val="159A8C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lang="en-US" sz="12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78" name="文本框 1177"/>
          <p:cNvSpPr txBox="1"/>
          <p:nvPr/>
        </p:nvSpPr>
        <p:spPr>
          <a:xfrm>
            <a:off x="1371600" y="2313360"/>
            <a:ext cx="96912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6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运行</a:t>
            </a:r>
            <a:endParaRPr lang="zh-CN" sz="16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79" name="文本框 1178"/>
          <p:cNvSpPr txBox="1"/>
          <p:nvPr/>
        </p:nvSpPr>
        <p:spPr>
          <a:xfrm>
            <a:off x="2340720" y="2322720"/>
            <a:ext cx="301752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</a:rPr>
              <a:t>启动交互型与计算型工作负载</a:t>
            </a:r>
            <a:endParaRPr lang="zh-CN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80" name="直接连接符 1179"/>
          <p:cNvSpPr/>
          <p:nvPr/>
        </p:nvSpPr>
        <p:spPr>
          <a:xfrm>
            <a:off x="941760" y="2825640"/>
            <a:ext cx="0" cy="502920"/>
          </a:xfrm>
          <a:prstGeom prst="line">
            <a:avLst/>
          </a:prstGeom>
          <a:ln w="108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81" name="椭圆 1180"/>
          <p:cNvSpPr/>
          <p:nvPr/>
        </p:nvSpPr>
        <p:spPr>
          <a:xfrm>
            <a:off x="713160" y="3364920"/>
            <a:ext cx="475560" cy="475560"/>
          </a:xfrm>
          <a:prstGeom prst="ellipse">
            <a:avLst/>
          </a:prstGeom>
          <a:solidFill>
            <a:srgbClr val="6239E7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lang="en-US" sz="12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82" name="文本框 1181"/>
          <p:cNvSpPr txBox="1"/>
          <p:nvPr/>
        </p:nvSpPr>
        <p:spPr>
          <a:xfrm>
            <a:off x="1371600" y="3355920"/>
            <a:ext cx="96912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6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查询</a:t>
            </a:r>
            <a:endParaRPr lang="zh-CN" sz="16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83" name="文本框 1182"/>
          <p:cNvSpPr txBox="1"/>
          <p:nvPr/>
        </p:nvSpPr>
        <p:spPr>
          <a:xfrm>
            <a:off x="2340720" y="3364920"/>
            <a:ext cx="301752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查看 </a:t>
            </a: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workload</a:t>
            </a:r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</a:t>
            </a: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classification </a:t>
            </a:r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 </a:t>
            </a: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generation</a:t>
            </a:r>
            <a:endParaRPr lang="en-US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84" name="直接连接符 1183"/>
          <p:cNvSpPr/>
          <p:nvPr/>
        </p:nvSpPr>
        <p:spPr>
          <a:xfrm>
            <a:off x="941760" y="3867840"/>
            <a:ext cx="0" cy="502920"/>
          </a:xfrm>
          <a:prstGeom prst="line">
            <a:avLst/>
          </a:prstGeom>
          <a:ln w="10800">
            <a:solidFill>
              <a:srgbClr val="D7E0ED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85" name="椭圆 1184"/>
          <p:cNvSpPr/>
          <p:nvPr/>
        </p:nvSpPr>
        <p:spPr>
          <a:xfrm>
            <a:off x="713160" y="4407480"/>
            <a:ext cx="475560" cy="475560"/>
          </a:xfrm>
          <a:prstGeom prst="ellipse">
            <a:avLst/>
          </a:prstGeom>
          <a:solidFill>
            <a:srgbClr val="D74B5A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pPr algn="ctr">
              <a:buNone/>
            </a:pPr>
            <a:r>
              <a:rPr lang="en-US" sz="12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lang="en-US" sz="12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86" name="文本框 1185"/>
          <p:cNvSpPr txBox="1"/>
          <p:nvPr/>
        </p:nvSpPr>
        <p:spPr>
          <a:xfrm>
            <a:off x="1371600" y="4398120"/>
            <a:ext cx="96912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600" b="1" strike="noStrike" spc="-1">
                <a:solidFill>
                  <a:srgbClr val="17233D"/>
                </a:solidFill>
                <a:latin typeface="黑体" panose="02010609060101010101" charset="-122"/>
                <a:ea typeface="黑体" panose="02010609060101010101" charset="-122"/>
              </a:rPr>
              <a:t>观察</a:t>
            </a:r>
            <a:endParaRPr lang="zh-CN" sz="1600" b="1" strike="noStrike" spc="-1">
              <a:solidFill>
                <a:srgbClr val="17233D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87" name="文本框 1186"/>
          <p:cNvSpPr txBox="1"/>
          <p:nvPr/>
        </p:nvSpPr>
        <p:spPr>
          <a:xfrm>
            <a:off x="2340720" y="4407480"/>
            <a:ext cx="301752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读取 </a:t>
            </a:r>
            <a:r>
              <a:rPr lang="en-US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health / stats</a:t>
            </a:r>
            <a:r>
              <a:rPr lang="zh-CN" sz="1200" b="0" strike="noStrike" spc="-1">
                <a:solidFill>
                  <a:srgbClr val="63718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，确认策略持续工作</a:t>
            </a:r>
            <a:endParaRPr lang="zh-CN" sz="1200" b="0" strike="noStrike" spc="-1">
              <a:solidFill>
                <a:srgbClr val="63718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88" name="圆角矩形 1187"/>
          <p:cNvSpPr/>
          <p:nvPr/>
        </p:nvSpPr>
        <p:spPr>
          <a:xfrm>
            <a:off x="5596200" y="1225440"/>
            <a:ext cx="5614560" cy="4526280"/>
          </a:xfrm>
          <a:prstGeom prst="roundRect">
            <a:avLst/>
          </a:prstGeom>
          <a:solidFill>
            <a:srgbClr val="101A33"/>
          </a:solidFill>
          <a:ln w="0">
            <a:noFill/>
          </a:ln>
        </p:spPr>
      </p:sp>
      <p:sp>
        <p:nvSpPr>
          <p:cNvPr id="1189" name="文本框 1188"/>
          <p:cNvSpPr txBox="1"/>
          <p:nvPr/>
        </p:nvSpPr>
        <p:spPr>
          <a:xfrm>
            <a:off x="5906880" y="1527120"/>
            <a:ext cx="2212920" cy="3110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4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演示窗口 </a:t>
            </a:r>
            <a:r>
              <a:rPr lang="en-US" sz="14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 </a:t>
            </a:r>
            <a:r>
              <a:rPr lang="zh-CN" sz="14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观察字段</a:t>
            </a:r>
            <a:endParaRPr lang="zh-CN" sz="1400" b="1" strike="noStrike" spc="-1">
              <a:solidFill>
                <a:srgbClr val="19B9D7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90" name="文本框 1189"/>
          <p:cNvSpPr txBox="1"/>
          <p:nvPr/>
        </p:nvSpPr>
        <p:spPr>
          <a:xfrm>
            <a:off x="5906880" y="2039040"/>
            <a:ext cx="493776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$ sudo adaptive-os-agent --config … --debug</a:t>
            </a:r>
            <a:endParaRPr lang="en-US" sz="12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91" name="文本框 1190"/>
          <p:cNvSpPr txBox="1"/>
          <p:nvPr/>
        </p:nvSpPr>
        <p:spPr>
          <a:xfrm>
            <a:off x="5906880" y="2487240"/>
            <a:ext cx="429768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60" b="0" strike="noStrike" spc="-1">
                <a:solidFill>
                  <a:srgbClr val="B9CCFF"/>
                </a:solidFill>
                <a:latin typeface="黑体" panose="02010609060101010101" charset="-122"/>
                <a:ea typeface="黑体" panose="02010609060101010101" charset="-122"/>
              </a:rPr>
              <a:t>scheduler attached · epoch = …</a:t>
            </a:r>
            <a:endParaRPr lang="en-US" sz="1060" b="0" strike="noStrike" spc="-1">
              <a:solidFill>
                <a:srgbClr val="B9CC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92" name="文本框 1191"/>
          <p:cNvSpPr txBox="1"/>
          <p:nvPr/>
        </p:nvSpPr>
        <p:spPr>
          <a:xfrm>
            <a:off x="5906880" y="2816280"/>
            <a:ext cx="4297680" cy="25596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60" b="0" strike="noStrike" spc="-1">
                <a:solidFill>
                  <a:srgbClr val="B9CCFF"/>
                </a:solidFill>
                <a:latin typeface="黑体" panose="02010609060101010101" charset="-122"/>
                <a:ea typeface="黑体" panose="02010609060101010101" charset="-122"/>
              </a:rPr>
              <a:t>registry snapshot ready</a:t>
            </a:r>
            <a:endParaRPr lang="en-US" sz="1060" b="0" strike="noStrike" spc="-1">
              <a:solidFill>
                <a:srgbClr val="B9CC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93" name="直接连接符 1192"/>
          <p:cNvSpPr/>
          <p:nvPr/>
        </p:nvSpPr>
        <p:spPr>
          <a:xfrm>
            <a:off x="5906880" y="3246120"/>
            <a:ext cx="4883040" cy="0"/>
          </a:xfrm>
          <a:prstGeom prst="line">
            <a:avLst/>
          </a:prstGeom>
          <a:ln w="7200">
            <a:solidFill>
              <a:srgbClr val="40517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94" name="文本框 1193"/>
          <p:cNvSpPr txBox="1"/>
          <p:nvPr/>
        </p:nvSpPr>
        <p:spPr>
          <a:xfrm>
            <a:off x="5906880" y="3520440"/>
            <a:ext cx="18655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</a:rPr>
              <a:t>workload.list</a:t>
            </a:r>
            <a:endParaRPr lang="en-US" sz="1200" b="1" strike="noStrike" spc="-1">
              <a:solidFill>
                <a:srgbClr val="19B9D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95" name="文本框 1194"/>
          <p:cNvSpPr txBox="1"/>
          <p:nvPr/>
        </p:nvSpPr>
        <p:spPr>
          <a:xfrm>
            <a:off x="7772400" y="3520440"/>
            <a:ext cx="27979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30" b="0" strike="noStrike" spc="-1">
                <a:solidFill>
                  <a:srgbClr val="DCE5F7"/>
                </a:solidFill>
                <a:latin typeface="黑体" panose="02010609060101010101" charset="-122"/>
                <a:ea typeface="黑体" panose="02010609060101010101" charset="-122"/>
              </a:rPr>
              <a:t>active process / task identities</a:t>
            </a:r>
            <a:endParaRPr lang="en-US" sz="1030" b="0" strike="noStrike" spc="-1">
              <a:solidFill>
                <a:srgbClr val="DCE5F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96" name="文本框 1195"/>
          <p:cNvSpPr txBox="1"/>
          <p:nvPr/>
        </p:nvSpPr>
        <p:spPr>
          <a:xfrm>
            <a:off x="5906880" y="3895200"/>
            <a:ext cx="18655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</a:rPr>
              <a:t>classification.get</a:t>
            </a:r>
            <a:endParaRPr lang="en-US" sz="1200" b="1" strike="noStrike" spc="-1">
              <a:solidFill>
                <a:srgbClr val="19B9D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97" name="文本框 1196"/>
          <p:cNvSpPr txBox="1"/>
          <p:nvPr/>
        </p:nvSpPr>
        <p:spPr>
          <a:xfrm>
            <a:off x="7772400" y="3895200"/>
            <a:ext cx="27979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30" b="0" strike="noStrike" spc="-1">
                <a:solidFill>
                  <a:srgbClr val="DCE5F7"/>
                </a:solidFill>
                <a:latin typeface="黑体" panose="02010609060101010101" charset="-122"/>
                <a:ea typeface="黑体" panose="02010609060101010101" charset="-122"/>
              </a:rPr>
              <a:t>class · stage · source · generation</a:t>
            </a:r>
            <a:endParaRPr lang="en-US" sz="1030" b="0" strike="noStrike" spc="-1">
              <a:solidFill>
                <a:srgbClr val="DCE5F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98" name="文本框 1197"/>
          <p:cNvSpPr txBox="1"/>
          <p:nvPr/>
        </p:nvSpPr>
        <p:spPr>
          <a:xfrm>
            <a:off x="5906880" y="4270320"/>
            <a:ext cx="18655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</a:rPr>
              <a:t>scheduler.health</a:t>
            </a:r>
            <a:endParaRPr lang="en-US" sz="1200" b="1" strike="noStrike" spc="-1">
              <a:solidFill>
                <a:srgbClr val="19B9D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99" name="文本框 1198"/>
          <p:cNvSpPr txBox="1"/>
          <p:nvPr/>
        </p:nvSpPr>
        <p:spPr>
          <a:xfrm>
            <a:off x="7772400" y="4270320"/>
            <a:ext cx="27979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30" b="0" strike="noStrike" spc="-1">
                <a:solidFill>
                  <a:srgbClr val="DCE5F7"/>
                </a:solidFill>
                <a:latin typeface="黑体" panose="02010609060101010101" charset="-122"/>
                <a:ea typeface="黑体" panose="02010609060101010101" charset="-122"/>
              </a:rPr>
              <a:t>epoch · registry_ready · connected</a:t>
            </a:r>
            <a:endParaRPr lang="en-US" sz="1030" b="0" strike="noStrike" spc="-1">
              <a:solidFill>
                <a:srgbClr val="DCE5F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0" name="文本框 1199"/>
          <p:cNvSpPr txBox="1"/>
          <p:nvPr/>
        </p:nvSpPr>
        <p:spPr>
          <a:xfrm>
            <a:off x="5906880" y="4645080"/>
            <a:ext cx="18655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200" b="1" strike="noStrike" spc="-1">
                <a:solidFill>
                  <a:srgbClr val="19B9D7"/>
                </a:solidFill>
                <a:latin typeface="黑体" panose="02010609060101010101" charset="-122"/>
                <a:ea typeface="黑体" panose="02010609060101010101" charset="-122"/>
              </a:rPr>
              <a:t>scheduler.stats</a:t>
            </a:r>
            <a:endParaRPr lang="en-US" sz="1200" b="1" strike="noStrike" spc="-1">
              <a:solidFill>
                <a:srgbClr val="19B9D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1" name="文本框 1200"/>
          <p:cNvSpPr txBox="1"/>
          <p:nvPr/>
        </p:nvSpPr>
        <p:spPr>
          <a:xfrm>
            <a:off x="7772400" y="4645080"/>
            <a:ext cx="2797920" cy="265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1030" b="0" strike="noStrike" spc="-1">
                <a:solidFill>
                  <a:srgbClr val="DCE5F7"/>
                </a:solidFill>
                <a:latin typeface="黑体" panose="02010609060101010101" charset="-122"/>
                <a:ea typeface="黑体" panose="02010609060101010101" charset="-122"/>
              </a:rPr>
              <a:t>policy · dispatch · BPF counters</a:t>
            </a:r>
            <a:endParaRPr lang="en-US" sz="1030" b="0" strike="noStrike" spc="-1">
              <a:solidFill>
                <a:srgbClr val="DCE5F7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2" name="圆角矩形 1201"/>
          <p:cNvSpPr/>
          <p:nvPr/>
        </p:nvSpPr>
        <p:spPr>
          <a:xfrm>
            <a:off x="8979480" y="5175360"/>
            <a:ext cx="1792080" cy="274320"/>
          </a:xfrm>
          <a:prstGeom prst="roundRect">
            <a:avLst/>
          </a:prstGeom>
          <a:solidFill>
            <a:srgbClr val="213254"/>
          </a:solidFill>
          <a:ln w="0">
            <a:noFill/>
          </a:ln>
        </p:spPr>
        <p:txBody>
          <a:bodyPr anchor="ctr" anchorCtr="1">
            <a:noAutofit/>
          </a:bodyPr>
          <a:p>
            <a:pPr algn="ctr">
              <a:buNone/>
            </a:pPr>
            <a:r>
              <a:rPr lang="zh-CN" sz="1000" b="1" strike="noStrike" spc="-1">
                <a:solidFill>
                  <a:srgbClr val="B9CCFF"/>
                </a:solidFill>
                <a:latin typeface="黑体" panose="02010609060101010101" charset="-122"/>
                <a:ea typeface="黑体" panose="02010609060101010101" charset="-122"/>
              </a:rPr>
              <a:t>现场只读，不改策略</a:t>
            </a:r>
            <a:endParaRPr lang="zh-CN" sz="1000" b="1" strike="noStrike" spc="-1">
              <a:solidFill>
                <a:srgbClr val="B9CC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3" name="文本框 1202"/>
          <p:cNvSpPr txBox="1"/>
          <p:nvPr/>
        </p:nvSpPr>
        <p:spPr>
          <a:xfrm>
            <a:off x="1042560" y="5879520"/>
            <a:ext cx="10131480" cy="283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pPr algn="ctr">
              <a:buNone/>
            </a:pPr>
            <a:r>
              <a:rPr lang="zh-CN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讲解重点：同一次运行中串起“发现 → 分类 → </a:t>
            </a:r>
            <a:r>
              <a:rPr lang="en-US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generation ACK → </a:t>
            </a:r>
            <a:r>
              <a:rPr lang="zh-CN" sz="1400" b="1" strike="noStrike" spc="-1">
                <a:solidFill>
                  <a:srgbClr val="142A5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内核调度 → 状态观测”。</a:t>
            </a:r>
            <a:endParaRPr lang="zh-CN" sz="1400" b="1" strike="noStrike" spc="-1">
              <a:solidFill>
                <a:srgbClr val="142A5F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文本框 1203"/>
          <p:cNvSpPr txBox="1"/>
          <p:nvPr/>
        </p:nvSpPr>
        <p:spPr>
          <a:xfrm>
            <a:off x="731520" y="1572840"/>
            <a:ext cx="2834640" cy="6584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34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谢谢</a:t>
            </a:r>
            <a:endParaRPr lang="zh-CN" sz="34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5" name="文本框 1204"/>
          <p:cNvSpPr txBox="1"/>
          <p:nvPr/>
        </p:nvSpPr>
        <p:spPr>
          <a:xfrm>
            <a:off x="749880" y="2359080"/>
            <a:ext cx="5413320" cy="53028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en-US" sz="2400" b="1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Adaptive OS Agent</a:t>
            </a:r>
            <a:endParaRPr lang="en-US" sz="2400" b="1" strike="noStrike" spc="-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6" name="矩形 1205"/>
          <p:cNvSpPr/>
          <p:nvPr/>
        </p:nvSpPr>
        <p:spPr>
          <a:xfrm>
            <a:off x="768240" y="3136320"/>
            <a:ext cx="585360" cy="41040"/>
          </a:xfrm>
          <a:prstGeom prst="rect">
            <a:avLst/>
          </a:prstGeom>
          <a:solidFill>
            <a:srgbClr val="19B9D7"/>
          </a:solidFill>
          <a:ln w="0">
            <a:noFill/>
          </a:ln>
        </p:spPr>
      </p:sp>
      <p:sp>
        <p:nvSpPr>
          <p:cNvPr id="1207" name="文本框 1206"/>
          <p:cNvSpPr txBox="1"/>
          <p:nvPr/>
        </p:nvSpPr>
        <p:spPr>
          <a:xfrm>
            <a:off x="768240" y="3429000"/>
            <a:ext cx="6858000" cy="43884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500" b="1" strike="noStrike" spc="-1">
                <a:solidFill>
                  <a:srgbClr val="D8E7FF"/>
                </a:solidFill>
                <a:latin typeface="黑体" panose="02010609060101010101" charset="-122"/>
                <a:ea typeface="黑体" panose="02010609060101010101" charset="-122"/>
              </a:rPr>
              <a:t>让语义决策停在用户态，让调度确定性留在内核态。</a:t>
            </a:r>
            <a:endParaRPr lang="zh-CN" sz="1500" b="1" strike="noStrike" spc="-1">
              <a:solidFill>
                <a:srgbClr val="D8E7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8" name="文本框 1207"/>
          <p:cNvSpPr txBox="1"/>
          <p:nvPr/>
        </p:nvSpPr>
        <p:spPr>
          <a:xfrm>
            <a:off x="6748200" y="5212080"/>
            <a:ext cx="310896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000" b="0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参赛团队：</a:t>
            </a:r>
            <a:r>
              <a:rPr lang="en-US" sz="1000" b="0" u="sng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</a:t>
            </a:r>
            <a:r>
              <a:rPr lang="zh-CN" altLang="en-US" sz="1000" b="0" u="sng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这次没有队名</a:t>
            </a:r>
            <a:r>
              <a:rPr lang="en-US" sz="1000" b="0" u="sng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___</a:t>
            </a:r>
            <a:endParaRPr lang="en-US" sz="1000" b="0" u="sng" strike="noStrike" spc="-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09" name="文本框 1208"/>
          <p:cNvSpPr txBox="1"/>
          <p:nvPr/>
        </p:nvSpPr>
        <p:spPr>
          <a:xfrm>
            <a:off x="6748200" y="5596200"/>
            <a:ext cx="3108960" cy="274320"/>
          </a:xfrm>
          <a:prstGeom prst="rect">
            <a:avLst/>
          </a:prstGeom>
          <a:noFill/>
          <a:ln w="0">
            <a:noFill/>
          </a:ln>
        </p:spPr>
        <p:txBody>
          <a:bodyPr lIns="18360" tIns="18360" rIns="18360" bIns="18360" anchor="t">
            <a:noAutofit/>
          </a:bodyPr>
          <a:p>
            <a:r>
              <a:rPr lang="zh-CN" sz="1000" b="0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完成日期：</a:t>
            </a:r>
            <a:r>
              <a:rPr lang="en-US" sz="1000" b="0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 </a:t>
            </a:r>
            <a:r>
              <a:rPr lang="zh-CN" sz="1000" b="0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 </a:t>
            </a:r>
            <a:r>
              <a:rPr lang="en-US" sz="1000" b="0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 </a:t>
            </a:r>
            <a:r>
              <a:rPr lang="zh-CN" sz="1000" b="0" strike="noStrike" spc="-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</a:t>
            </a:r>
            <a:endParaRPr lang="en-US" sz="1000" b="0" strike="noStrike" spc="-1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2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3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4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5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6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7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8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9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0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1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2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3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4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5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6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7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8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19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ags/tag20.xml><?xml version="1.0" encoding="utf-8"?>
<p:tagLst xmlns:p="http://schemas.openxmlformats.org/presentationml/2006/main">
  <p:tag name="KSO_WM_DIAGRAM_VIRTUALLY_FRAME" val="{&quot;height&quot;:341.29133858267716,&quot;left&quot;:318.2456692913386,&quot;top&quot;:83.50866141732283,&quot;width&quot;:552.245669291338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4477</Words>
  <Application>WPS 演示</Application>
  <PresentationFormat/>
  <Paragraphs>683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18</vt:i4>
      </vt:variant>
    </vt:vector>
  </HeadingPairs>
  <TitlesOfParts>
    <vt:vector size="55" baseType="lpstr">
      <vt:lpstr>Arial</vt:lpstr>
      <vt:lpstr>宋体</vt:lpstr>
      <vt:lpstr>Wingdings</vt:lpstr>
      <vt:lpstr>Arial</vt:lpstr>
      <vt:lpstr>Times New Roman</vt:lpstr>
      <vt:lpstr>Symbol</vt:lpstr>
      <vt:lpstr>Noto Sans CJK SC</vt:lpstr>
      <vt:lpstr>Segoe Print</vt:lpstr>
      <vt:lpstr>Noto Sans Mono CJK SC</vt:lpstr>
      <vt:lpstr>微软雅黑</vt:lpstr>
      <vt:lpstr>Arial Unicode MS</vt:lpstr>
      <vt:lpstr>DejaVu Sans</vt:lpstr>
      <vt:lpstr>Calibri</vt:lpstr>
      <vt:lpstr>Noto Sans CJK SC</vt:lpstr>
      <vt:lpstr>Noto Sans Mono CJK SC</vt:lpstr>
      <vt:lpstr>Symbol</vt:lpstr>
      <vt:lpstr>Times New Roman</vt:lpstr>
      <vt:lpstr>Wingdings</vt:lpstr>
      <vt:lpstr>黑体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OS Agent 项目答辩 PPT</dc:title>
  <dc:creator>Adaptive OS Agent</dc:creator>
  <dc:description>中国研究生操作系统开源创新大赛系统创新赛道项目答辩</dc:description>
  <dc:subject>面向 openEuler 的自适应资源管控 Agent</dc:subject>
  <cp:lastModifiedBy>I</cp:lastModifiedBy>
  <cp:revision>79</cp:revision>
  <dcterms:created xsi:type="dcterms:W3CDTF">2024-08-05T03:21:00Z</dcterms:created>
  <dcterms:modified xsi:type="dcterms:W3CDTF">2026-07-30T08:54:28Z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613A6777A1B946ADA995918DC9310000_13</vt:lpwstr>
  </property>
  <property fmtid="{D5CDD505-2E9C-101B-9397-08002B2CF9AE}" pid="3" name="KSOProductBuildVer">
    <vt:lpwstr>2052-12.1.0.26885</vt:lpwstr>
  </property>
  <property fmtid="{D5CDD505-2E9C-101B-9397-08002B2CF9AE}" pid="4" name="PresentationFormat">
    <vt:lpwstr>宽屏</vt:lpwstr>
  </property>
  <property fmtid="{D5CDD505-2E9C-101B-9397-08002B2CF9AE}" pid="5" name="Slides">
    <vt:i4>18</vt:i4>
  </property>
</Properties>
</file>